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Big Shoulders Display" charset="1" panose="00000000000000000000"/>
      <p:regular r:id="rId25"/>
    </p:embeddedFont>
    <p:embeddedFont>
      <p:font typeface="Arimo Bold" charset="1" panose="020B0704020202020204"/>
      <p:regular r:id="rId26"/>
    </p:embeddedFont>
    <p:embeddedFont>
      <p:font typeface="Arimo" charset="1" panose="020B0604020202020204"/>
      <p:regular r:id="rId27"/>
    </p:embeddedFont>
    <p:embeddedFont>
      <p:font typeface="Big Shoulders Display Bold" charset="1" panose="00000000000000000000"/>
      <p:regular r:id="rId28"/>
    </p:embeddedFont>
    <p:embeddedFont>
      <p:font typeface="Aileron" charset="1" panose="00000500000000000000"/>
      <p:regular r:id="rId29"/>
    </p:embeddedFont>
    <p:embeddedFont>
      <p:font typeface="Shrikhand" charset="1" panose="02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15002" y="-3"/>
            <a:ext cx="6104906" cy="10287000"/>
            <a:chOff x="0" y="0"/>
            <a:chExt cx="8139874" cy="13716000"/>
          </a:xfrm>
        </p:grpSpPr>
        <p:sp>
          <p:nvSpPr>
            <p:cNvPr name="Freeform 4" id="4"/>
            <p:cNvSpPr/>
            <p:nvPr/>
          </p:nvSpPr>
          <p:spPr>
            <a:xfrm flipH="false" flipV="false" rot="0">
              <a:off x="0" y="0"/>
              <a:ext cx="8139811" cy="13716000"/>
            </a:xfrm>
            <a:custGeom>
              <a:avLst/>
              <a:gdLst/>
              <a:ahLst/>
              <a:cxnLst/>
              <a:rect r="r" b="b" t="t" l="l"/>
              <a:pathLst>
                <a:path h="13716000" w="8139811">
                  <a:moveTo>
                    <a:pt x="0" y="0"/>
                  </a:moveTo>
                  <a:lnTo>
                    <a:pt x="8139811" y="0"/>
                  </a:lnTo>
                  <a:lnTo>
                    <a:pt x="8139811" y="13716000"/>
                  </a:lnTo>
                  <a:lnTo>
                    <a:pt x="0" y="13716000"/>
                  </a:lnTo>
                  <a:close/>
                </a:path>
              </a:pathLst>
            </a:custGeom>
            <a:solidFill>
              <a:srgbClr val="1CADE4"/>
            </a:solidFill>
          </p:spPr>
        </p:sp>
      </p:grpSp>
      <p:grpSp>
        <p:nvGrpSpPr>
          <p:cNvPr name="Group 5" id="5"/>
          <p:cNvGrpSpPr/>
          <p:nvPr/>
        </p:nvGrpSpPr>
        <p:grpSpPr>
          <a:xfrm rot="0">
            <a:off x="465058" y="960120"/>
            <a:ext cx="5144786" cy="8419854"/>
            <a:chOff x="0" y="0"/>
            <a:chExt cx="6859714" cy="11226472"/>
          </a:xfrm>
        </p:grpSpPr>
        <p:sp>
          <p:nvSpPr>
            <p:cNvPr name="Freeform 6" id="6"/>
            <p:cNvSpPr/>
            <p:nvPr/>
          </p:nvSpPr>
          <p:spPr>
            <a:xfrm flipH="false" flipV="false" rot="0">
              <a:off x="0" y="0"/>
              <a:ext cx="6859710" cy="11226474"/>
            </a:xfrm>
            <a:custGeom>
              <a:avLst/>
              <a:gdLst/>
              <a:ahLst/>
              <a:cxnLst/>
              <a:rect r="r" b="b" t="t" l="l"/>
              <a:pathLst>
                <a:path h="11226474" w="6859710">
                  <a:moveTo>
                    <a:pt x="0" y="0"/>
                  </a:moveTo>
                  <a:lnTo>
                    <a:pt x="6859710" y="0"/>
                  </a:lnTo>
                  <a:lnTo>
                    <a:pt x="6859710" y="11226474"/>
                  </a:lnTo>
                  <a:lnTo>
                    <a:pt x="0" y="11226474"/>
                  </a:lnTo>
                  <a:close/>
                </a:path>
              </a:pathLst>
            </a:custGeom>
            <a:blipFill>
              <a:blip r:embed="rId2">
                <a:alphaModFix amt="0"/>
              </a:blip>
              <a:stretch>
                <a:fillRect l="-159979" t="0" r="-159979" b="0"/>
              </a:stretch>
            </a:blipFill>
          </p:spPr>
        </p:sp>
        <p:sp>
          <p:nvSpPr>
            <p:cNvPr name="TextBox 7" id="7"/>
            <p:cNvSpPr txBox="true"/>
            <p:nvPr/>
          </p:nvSpPr>
          <p:spPr>
            <a:xfrm>
              <a:off x="0" y="152400"/>
              <a:ext cx="6859714" cy="1107407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Java </a:t>
              </a:r>
              <a:r>
                <a:rPr lang="en-US" sz="7500" spc="164">
                  <a:solidFill>
                    <a:srgbClr val="FFFFFF"/>
                  </a:solidFill>
                  <a:latin typeface="Big Shoulders Display"/>
                  <a:ea typeface="Big Shoulders Display"/>
                  <a:cs typeface="Big Shoulders Display"/>
                  <a:sym typeface="Big Shoulders Display"/>
                </a:rPr>
                <a:t>Programming Project Presentation</a:t>
              </a:r>
            </a:p>
          </p:txBody>
        </p:sp>
      </p:grpSp>
      <p:sp>
        <p:nvSpPr>
          <p:cNvPr name="TextBox 8" id="8"/>
          <p:cNvSpPr txBox="true"/>
          <p:nvPr/>
        </p:nvSpPr>
        <p:spPr>
          <a:xfrm rot="0">
            <a:off x="7095449" y="3214659"/>
            <a:ext cx="10666771" cy="2565273"/>
          </a:xfrm>
          <a:prstGeom prst="rect">
            <a:avLst/>
          </a:prstGeom>
        </p:spPr>
        <p:txBody>
          <a:bodyPr anchor="t" rtlCol="false" tIns="0" lIns="0" bIns="0" rIns="0">
            <a:spAutoFit/>
          </a:bodyPr>
          <a:lstStyle/>
          <a:p>
            <a:pPr algn="l">
              <a:lnSpc>
                <a:spcPts val="2916"/>
              </a:lnSpc>
            </a:pPr>
          </a:p>
          <a:p>
            <a:pPr algn="l" marL="488632" indent="-244316" lvl="1">
              <a:lnSpc>
                <a:spcPts val="2916"/>
              </a:lnSpc>
              <a:buFont typeface="Arial"/>
              <a:buChar char="•"/>
            </a:pPr>
            <a:r>
              <a:rPr lang="en-US" b="true" sz="2700">
                <a:solidFill>
                  <a:srgbClr val="000000"/>
                </a:solidFill>
                <a:latin typeface="Arimo Bold"/>
                <a:ea typeface="Arimo Bold"/>
                <a:cs typeface="Arimo Bold"/>
                <a:sym typeface="Arimo Bold"/>
              </a:rPr>
              <a:t>Project Title: </a:t>
            </a:r>
            <a:r>
              <a:rPr lang="en-US" sz="2700">
                <a:solidFill>
                  <a:srgbClr val="000000"/>
                </a:solidFill>
                <a:latin typeface="Arimo"/>
                <a:ea typeface="Arimo"/>
                <a:cs typeface="Arimo"/>
                <a:sym typeface="Arimo"/>
              </a:rPr>
              <a:t>Event Registration And Participant Management       System</a:t>
            </a:r>
          </a:p>
          <a:p>
            <a:pPr algn="l" marL="488632" indent="-244316" lvl="1">
              <a:lnSpc>
                <a:spcPts val="2916"/>
              </a:lnSpc>
              <a:buFont typeface="Arial"/>
              <a:buChar char="•"/>
            </a:pPr>
            <a:r>
              <a:rPr lang="en-US" b="true" sz="2700">
                <a:solidFill>
                  <a:srgbClr val="000000"/>
                </a:solidFill>
                <a:latin typeface="Arimo Bold"/>
                <a:ea typeface="Arimo Bold"/>
                <a:cs typeface="Arimo Bold"/>
                <a:sym typeface="Arimo Bold"/>
              </a:rPr>
              <a:t>Course:</a:t>
            </a:r>
            <a:r>
              <a:rPr lang="en-US" sz="2700">
                <a:solidFill>
                  <a:srgbClr val="000000"/>
                </a:solidFill>
                <a:latin typeface="Arimo"/>
                <a:ea typeface="Arimo"/>
                <a:cs typeface="Arimo"/>
                <a:sym typeface="Arimo"/>
              </a:rPr>
              <a:t> Java Programming Mini Project</a:t>
            </a:r>
          </a:p>
          <a:p>
            <a:pPr algn="l" marL="488632" indent="-244316" lvl="1">
              <a:lnSpc>
                <a:spcPts val="2916"/>
              </a:lnSpc>
              <a:buFont typeface="Arial"/>
              <a:buChar char="•"/>
            </a:pPr>
            <a:r>
              <a:rPr lang="en-US" b="true" sz="2700">
                <a:solidFill>
                  <a:srgbClr val="000000"/>
                </a:solidFill>
                <a:latin typeface="Arimo Bold"/>
                <a:ea typeface="Arimo Bold"/>
                <a:cs typeface="Arimo Bold"/>
                <a:sym typeface="Arimo Bold"/>
              </a:rPr>
              <a:t>Student Name &amp; Roll No:</a:t>
            </a:r>
            <a:r>
              <a:rPr lang="en-US" sz="2700">
                <a:solidFill>
                  <a:srgbClr val="000000"/>
                </a:solidFill>
                <a:latin typeface="Arimo"/>
                <a:ea typeface="Arimo"/>
                <a:cs typeface="Arimo"/>
                <a:sym typeface="Arimo"/>
              </a:rPr>
              <a:t> Nevethaa R S [25BCS036]</a:t>
            </a:r>
          </a:p>
          <a:p>
            <a:pPr algn="l" marL="488632" indent="-244316" lvl="1">
              <a:lnSpc>
                <a:spcPts val="2916"/>
              </a:lnSpc>
              <a:buFont typeface="Arial"/>
              <a:buChar char="•"/>
            </a:pPr>
            <a:r>
              <a:rPr lang="en-US" b="true" sz="2700">
                <a:solidFill>
                  <a:srgbClr val="000000"/>
                </a:solidFill>
                <a:latin typeface="Arimo Bold"/>
                <a:ea typeface="Arimo Bold"/>
                <a:cs typeface="Arimo Bold"/>
                <a:sym typeface="Arimo Bold"/>
              </a:rPr>
              <a:t>Department:</a:t>
            </a:r>
            <a:r>
              <a:rPr lang="en-US" sz="2700">
                <a:solidFill>
                  <a:srgbClr val="000000"/>
                </a:solidFill>
                <a:latin typeface="Arimo"/>
                <a:ea typeface="Arimo"/>
                <a:cs typeface="Arimo"/>
                <a:sym typeface="Arimo"/>
              </a:rPr>
              <a:t> Computer Science </a:t>
            </a:r>
          </a:p>
          <a:p>
            <a:pPr algn="l" marL="488632" indent="-244316" lvl="1">
              <a:lnSpc>
                <a:spcPts val="2916"/>
              </a:lnSpc>
              <a:buFont typeface="Arial"/>
              <a:buChar char="•"/>
            </a:pPr>
            <a:r>
              <a:rPr lang="en-US" b="true" sz="2700">
                <a:solidFill>
                  <a:srgbClr val="000000"/>
                </a:solidFill>
                <a:latin typeface="Arimo Bold"/>
                <a:ea typeface="Arimo Bold"/>
                <a:cs typeface="Arimo Bold"/>
                <a:sym typeface="Arimo Bold"/>
              </a:rPr>
              <a:t>Mentor / Guide:</a:t>
            </a:r>
            <a:r>
              <a:rPr lang="en-US" sz="2700">
                <a:solidFill>
                  <a:srgbClr val="000000"/>
                </a:solidFill>
                <a:latin typeface="Arimo"/>
                <a:ea typeface="Arimo"/>
                <a:cs typeface="Arimo"/>
                <a:sym typeface="Arimo"/>
              </a:rPr>
              <a:t> Dr.Boopalan Sundaramoorthy</a:t>
            </a:r>
          </a:p>
        </p:txBody>
      </p:sp>
      <p:grpSp>
        <p:nvGrpSpPr>
          <p:cNvPr name="Group 9" id="9"/>
          <p:cNvGrpSpPr/>
          <p:nvPr/>
        </p:nvGrpSpPr>
        <p:grpSpPr>
          <a:xfrm rot="0">
            <a:off x="7049729" y="349996"/>
            <a:ext cx="10115864" cy="2528964"/>
            <a:chOff x="0" y="0"/>
            <a:chExt cx="13487819" cy="3371952"/>
          </a:xfrm>
        </p:grpSpPr>
        <p:sp>
          <p:nvSpPr>
            <p:cNvPr name="Freeform 10" id="10" descr="A blue and red logo  AI-generated content may be incorrect."/>
            <p:cNvSpPr/>
            <p:nvPr/>
          </p:nvSpPr>
          <p:spPr>
            <a:xfrm flipH="false" flipV="false" rot="0">
              <a:off x="0" y="0"/>
              <a:ext cx="13487781" cy="3371977"/>
            </a:xfrm>
            <a:custGeom>
              <a:avLst/>
              <a:gdLst/>
              <a:ahLst/>
              <a:cxnLst/>
              <a:rect r="r" b="b" t="t" l="l"/>
              <a:pathLst>
                <a:path h="3371977" w="13487781">
                  <a:moveTo>
                    <a:pt x="0" y="0"/>
                  </a:moveTo>
                  <a:lnTo>
                    <a:pt x="13487781" y="0"/>
                  </a:lnTo>
                  <a:lnTo>
                    <a:pt x="13487781" y="3371977"/>
                  </a:lnTo>
                  <a:lnTo>
                    <a:pt x="0" y="3371977"/>
                  </a:lnTo>
                  <a:lnTo>
                    <a:pt x="0" y="0"/>
                  </a:lnTo>
                  <a:close/>
                </a:path>
              </a:pathLst>
            </a:custGeom>
            <a:blipFill>
              <a:blip r:embed="rId3"/>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15912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5203993" y="1182624"/>
            <a:ext cx="11884895" cy="2249424"/>
            <a:chOff x="0" y="0"/>
            <a:chExt cx="15846527" cy="2999232"/>
          </a:xfrm>
        </p:grpSpPr>
        <p:sp>
          <p:nvSpPr>
            <p:cNvPr name="Freeform 8" id="8"/>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9" id="9"/>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Introduction</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rot="-5329860">
            <a:off x="4110561" y="2220563"/>
            <a:ext cx="1400470"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796511" y="3156824"/>
            <a:ext cx="11793455" cy="5575173"/>
          </a:xfrm>
          <a:prstGeom prst="rect">
            <a:avLst/>
          </a:prstGeom>
        </p:spPr>
        <p:txBody>
          <a:bodyPr anchor="t" rtlCol="false" tIns="0" lIns="0" bIns="0" rIns="0">
            <a:spAutoFit/>
          </a:bodyPr>
          <a:lstStyle/>
          <a:p>
            <a:pPr algn="l">
              <a:lnSpc>
                <a:spcPts val="2916"/>
              </a:lnSpc>
            </a:pPr>
          </a:p>
          <a:p>
            <a:pPr algn="l">
              <a:lnSpc>
                <a:spcPts val="3455"/>
              </a:lnSpc>
            </a:pPr>
            <a:r>
              <a:rPr lang="en-US" sz="319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Overview of the Project and its Purpose:</a:t>
            </a:r>
          </a:p>
          <a:p>
            <a:pPr algn="l">
              <a:lnSpc>
                <a:spcPts val="3455"/>
              </a:lnSpc>
            </a:pPr>
            <a:r>
              <a:rPr lang="en-US" sz="3199">
                <a:solidFill>
                  <a:srgbClr val="FFFFFF"/>
                </a:solidFill>
                <a:latin typeface="Arimo"/>
                <a:ea typeface="Arimo"/>
                <a:cs typeface="Arimo"/>
                <a:sym typeface="Arimo"/>
              </a:rPr>
              <a:t>• Java-based system to efficiently manage and organize event registrations</a:t>
            </a:r>
          </a:p>
          <a:p>
            <a:pPr algn="l">
              <a:lnSpc>
                <a:spcPts val="3455"/>
              </a:lnSpc>
            </a:pPr>
          </a:p>
          <a:p>
            <a:pPr algn="l">
              <a:lnSpc>
                <a:spcPts val="3455"/>
              </a:lnSpc>
            </a:pPr>
            <a:r>
              <a:rPr lang="en-US" sz="319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Problem Background and Motivation:</a:t>
            </a:r>
          </a:p>
          <a:p>
            <a:pPr algn="l">
              <a:lnSpc>
                <a:spcPts val="3455"/>
              </a:lnSpc>
            </a:pPr>
            <a:r>
              <a:rPr lang="en-US" sz="3199">
                <a:solidFill>
                  <a:srgbClr val="FFFFFF"/>
                </a:solidFill>
                <a:latin typeface="Arimo"/>
                <a:ea typeface="Arimo"/>
                <a:cs typeface="Arimo"/>
                <a:sym typeface="Arimo"/>
              </a:rPr>
              <a:t>• Manual registration causes errors, duplication, and delays in data handling</a:t>
            </a:r>
          </a:p>
          <a:p>
            <a:pPr algn="l">
              <a:lnSpc>
                <a:spcPts val="3455"/>
              </a:lnSpc>
            </a:pPr>
          </a:p>
          <a:p>
            <a:pPr algn="l">
              <a:lnSpc>
                <a:spcPts val="3455"/>
              </a:lnSpc>
            </a:pPr>
            <a:r>
              <a:rPr lang="en-US" sz="319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Significance of the Project in Solving Real-World Issues:</a:t>
            </a:r>
          </a:p>
          <a:p>
            <a:pPr algn="l">
              <a:lnSpc>
                <a:spcPts val="3455"/>
              </a:lnSpc>
            </a:pPr>
            <a:r>
              <a:rPr lang="en-US" sz="3199">
                <a:solidFill>
                  <a:srgbClr val="FFFFFF"/>
                </a:solidFill>
                <a:latin typeface="Arimo"/>
                <a:ea typeface="Arimo"/>
                <a:cs typeface="Arimo"/>
                <a:sym typeface="Arimo"/>
              </a:rPr>
              <a:t>• Improves accuracy, reduces manual work, and enables efficient event management</a:t>
            </a:r>
          </a:p>
          <a:p>
            <a:pPr algn="l">
              <a:lnSpc>
                <a:spcPts val="2916"/>
              </a:lnSpc>
            </a:pP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4"/>
            <a:chOff x="0" y="0"/>
            <a:chExt cx="3755974" cy="11226472"/>
          </a:xfrm>
        </p:grpSpPr>
        <p:sp>
          <p:nvSpPr>
            <p:cNvPr name="Freeform 17" id="17"/>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15912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5203993" y="1182624"/>
            <a:ext cx="11884895" cy="2249424"/>
            <a:chOff x="0" y="0"/>
            <a:chExt cx="15846527" cy="2999232"/>
          </a:xfrm>
        </p:grpSpPr>
        <p:sp>
          <p:nvSpPr>
            <p:cNvPr name="Freeform 8" id="8"/>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9" id="9"/>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Objective</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rot="-5329860">
            <a:off x="4110561" y="2220563"/>
            <a:ext cx="1400470"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796511" y="3441573"/>
            <a:ext cx="11793455" cy="4056507"/>
          </a:xfrm>
          <a:prstGeom prst="rect">
            <a:avLst/>
          </a:prstGeom>
        </p:spPr>
        <p:txBody>
          <a:bodyPr anchor="t" rtlCol="false" tIns="0" lIns="0" bIns="0" rIns="0">
            <a:spAutoFit/>
          </a:bodyPr>
          <a:lstStyle/>
          <a:p>
            <a:pPr algn="l">
              <a:lnSpc>
                <a:spcPts val="2916"/>
              </a:lnSpc>
            </a:pPr>
          </a:p>
          <a:p>
            <a:pPr algn="l">
              <a:lnSpc>
                <a:spcPts val="3671"/>
              </a:lnSpc>
            </a:pPr>
            <a:r>
              <a:rPr lang="en-US" sz="3399">
                <a:solidFill>
                  <a:srgbClr val="FFFFFF"/>
                </a:solidFill>
                <a:latin typeface="Arimo"/>
                <a:ea typeface="Arimo"/>
                <a:cs typeface="Arimo"/>
                <a:sym typeface="Arimo"/>
              </a:rPr>
              <a:t> To develop a Java-based system for efficient event registration and participant management</a:t>
            </a:r>
          </a:p>
          <a:p>
            <a:pPr algn="l">
              <a:lnSpc>
                <a:spcPts val="3671"/>
              </a:lnSpc>
            </a:pPr>
          </a:p>
          <a:p>
            <a:pPr algn="l">
              <a:lnSpc>
                <a:spcPts val="3671"/>
              </a:lnSpc>
            </a:pPr>
            <a:r>
              <a:rPr lang="en-US" sz="3399">
                <a:solidFill>
                  <a:srgbClr val="FFFFFF"/>
                </a:solidFill>
                <a:latin typeface="Arimo"/>
                <a:ea typeface="Arimo"/>
                <a:cs typeface="Arimo"/>
                <a:sym typeface="Arimo"/>
              </a:rPr>
              <a:t> • To apply core programming concepts like classes, objects, and data handling</a:t>
            </a:r>
          </a:p>
          <a:p>
            <a:pPr algn="l">
              <a:lnSpc>
                <a:spcPts val="3671"/>
              </a:lnSpc>
            </a:pPr>
          </a:p>
          <a:p>
            <a:pPr algn="l">
              <a:lnSpc>
                <a:spcPts val="3671"/>
              </a:lnSpc>
            </a:pPr>
            <a:r>
              <a:rPr lang="en-US" sz="3399">
                <a:solidFill>
                  <a:srgbClr val="FFFFFF"/>
                </a:solidFill>
                <a:latin typeface="Arimo"/>
                <a:ea typeface="Arimo"/>
                <a:cs typeface="Arimo"/>
                <a:sym typeface="Arimo"/>
              </a:rPr>
              <a:t> • To automate data storage, search, and management processes to reduce manual effort</a:t>
            </a: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4"/>
            <a:chOff x="0" y="0"/>
            <a:chExt cx="3755974" cy="11226472"/>
          </a:xfrm>
        </p:grpSpPr>
        <p:sp>
          <p:nvSpPr>
            <p:cNvPr name="Freeform 17" id="17"/>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01070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5163413" y="884901"/>
            <a:ext cx="11884895" cy="2249424"/>
            <a:chOff x="0" y="0"/>
            <a:chExt cx="15846527" cy="2999232"/>
          </a:xfrm>
        </p:grpSpPr>
        <p:sp>
          <p:nvSpPr>
            <p:cNvPr name="Freeform 8" id="8"/>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9" id="9"/>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Problem Statement</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flipV="true">
            <a:off x="4877671" y="1225005"/>
            <a:ext cx="28572" cy="1400179"/>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378700" y="2820733"/>
            <a:ext cx="11793455" cy="5460873"/>
          </a:xfrm>
          <a:prstGeom prst="rect">
            <a:avLst/>
          </a:prstGeom>
        </p:spPr>
        <p:txBody>
          <a:bodyPr anchor="t" rtlCol="false" tIns="0" lIns="0" bIns="0" rIns="0">
            <a:spAutoFit/>
          </a:bodyPr>
          <a:lstStyle/>
          <a:p>
            <a:pPr algn="l">
              <a:lnSpc>
                <a:spcPts val="2916"/>
              </a:lnSpc>
            </a:pPr>
            <a:r>
              <a:rPr lang="en-US" sz="2700"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Current Issue / Gap:</a:t>
            </a:r>
          </a:p>
          <a:p>
            <a:pPr algn="l">
              <a:lnSpc>
                <a:spcPts val="2916"/>
              </a:lnSpc>
            </a:pPr>
            <a:r>
              <a:rPr lang="en-US" sz="2700">
                <a:solidFill>
                  <a:srgbClr val="FFFFFF"/>
                </a:solidFill>
                <a:latin typeface="Arimo"/>
                <a:ea typeface="Arimo"/>
                <a:cs typeface="Arimo"/>
                <a:sym typeface="Arimo"/>
              </a:rPr>
              <a:t> Manual registration leads to errors, duplication, and poor data management.</a:t>
            </a:r>
          </a:p>
          <a:p>
            <a:pPr algn="l">
              <a:lnSpc>
                <a:spcPts val="2916"/>
              </a:lnSpc>
            </a:pPr>
          </a:p>
          <a:p>
            <a:pPr algn="l">
              <a:lnSpc>
                <a:spcPts val="2916"/>
              </a:lnSpc>
            </a:pPr>
            <a:r>
              <a:rPr lang="en-US" sz="2700"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Limitations / Inefficiencies:</a:t>
            </a:r>
          </a:p>
          <a:p>
            <a:pPr algn="l">
              <a:lnSpc>
                <a:spcPts val="2916"/>
              </a:lnSpc>
            </a:pPr>
            <a:r>
              <a:rPr lang="en-US" sz="2700">
                <a:solidFill>
                  <a:srgbClr val="FFFFFF"/>
                </a:solidFill>
                <a:latin typeface="Arimo"/>
                <a:ea typeface="Arimo"/>
                <a:cs typeface="Arimo"/>
                <a:sym typeface="Arimo"/>
              </a:rPr>
              <a:t> • Slow process and high workload</a:t>
            </a:r>
          </a:p>
          <a:p>
            <a:pPr algn="l">
              <a:lnSpc>
                <a:spcPts val="2916"/>
              </a:lnSpc>
            </a:pPr>
            <a:r>
              <a:rPr lang="en-US" sz="2700">
                <a:solidFill>
                  <a:srgbClr val="FFFFFF"/>
                </a:solidFill>
                <a:latin typeface="Arimo"/>
                <a:ea typeface="Arimo"/>
                <a:cs typeface="Arimo"/>
                <a:sym typeface="Arimo"/>
              </a:rPr>
              <a:t> • Data errors and duplication</a:t>
            </a:r>
          </a:p>
          <a:p>
            <a:pPr algn="l">
              <a:lnSpc>
                <a:spcPts val="2916"/>
              </a:lnSpc>
            </a:pPr>
            <a:r>
              <a:rPr lang="en-US" sz="2700">
                <a:solidFill>
                  <a:srgbClr val="FFFFFF"/>
                </a:solidFill>
                <a:latin typeface="Arimo"/>
                <a:ea typeface="Arimo"/>
                <a:cs typeface="Arimo"/>
                <a:sym typeface="Arimo"/>
              </a:rPr>
              <a:t> • Difficult to manage large participants</a:t>
            </a:r>
          </a:p>
          <a:p>
            <a:pPr algn="l">
              <a:lnSpc>
                <a:spcPts val="2916"/>
              </a:lnSpc>
            </a:pPr>
            <a:r>
              <a:rPr lang="en-US" sz="2700">
                <a:solidFill>
                  <a:srgbClr val="FFFFFF"/>
                </a:solidFill>
                <a:latin typeface="Arimo"/>
                <a:ea typeface="Arimo"/>
                <a:cs typeface="Arimo"/>
                <a:sym typeface="Arimo"/>
              </a:rPr>
              <a:t> • No quick access to data</a:t>
            </a:r>
          </a:p>
          <a:p>
            <a:pPr algn="l">
              <a:lnSpc>
                <a:spcPts val="2916"/>
              </a:lnSpc>
            </a:pPr>
          </a:p>
          <a:p>
            <a:pPr algn="l">
              <a:lnSpc>
                <a:spcPts val="2916"/>
              </a:lnSpc>
            </a:pPr>
            <a:r>
              <a:rPr lang="en-US" sz="2700"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How the Project Solves It:</a:t>
            </a:r>
          </a:p>
          <a:p>
            <a:pPr algn="l">
              <a:lnSpc>
                <a:spcPts val="2916"/>
              </a:lnSpc>
            </a:pPr>
            <a:r>
              <a:rPr lang="en-US" sz="2700">
                <a:solidFill>
                  <a:srgbClr val="FFFFFF"/>
                </a:solidFill>
                <a:latin typeface="Arimo"/>
                <a:ea typeface="Arimo"/>
                <a:cs typeface="Arimo"/>
                <a:sym typeface="Arimo"/>
              </a:rPr>
              <a:t> • Automates registration process</a:t>
            </a:r>
          </a:p>
          <a:p>
            <a:pPr algn="l">
              <a:lnSpc>
                <a:spcPts val="2916"/>
              </a:lnSpc>
            </a:pPr>
            <a:r>
              <a:rPr lang="en-US" sz="2700">
                <a:solidFill>
                  <a:srgbClr val="FFFFFF"/>
                </a:solidFill>
                <a:latin typeface="Arimo"/>
                <a:ea typeface="Arimo"/>
                <a:cs typeface="Arimo"/>
                <a:sym typeface="Arimo"/>
              </a:rPr>
              <a:t> • Ensures accurate and organized data</a:t>
            </a:r>
          </a:p>
          <a:p>
            <a:pPr algn="l">
              <a:lnSpc>
                <a:spcPts val="2916"/>
              </a:lnSpc>
            </a:pPr>
            <a:r>
              <a:rPr lang="en-US" sz="2700">
                <a:solidFill>
                  <a:srgbClr val="FFFFFF"/>
                </a:solidFill>
                <a:latin typeface="Arimo"/>
                <a:ea typeface="Arimo"/>
                <a:cs typeface="Arimo"/>
                <a:sym typeface="Arimo"/>
              </a:rPr>
              <a:t> • Provides quick access and easy management</a:t>
            </a:r>
          </a:p>
          <a:p>
            <a:pPr algn="l">
              <a:lnSpc>
                <a:spcPts val="2916"/>
              </a:lnSpc>
            </a:pPr>
            <a:r>
              <a:rPr lang="en-US" sz="2700">
                <a:solidFill>
                  <a:srgbClr val="FFFFFF"/>
                </a:solidFill>
                <a:latin typeface="Arimo"/>
                <a:ea typeface="Arimo"/>
                <a:cs typeface="Arimo"/>
                <a:sym typeface="Arimo"/>
              </a:rPr>
              <a:t> • Improves overall efficiency and coordination</a:t>
            </a:r>
          </a:p>
          <a:p>
            <a:pPr algn="l">
              <a:lnSpc>
                <a:spcPts val="2916"/>
              </a:lnSpc>
            </a:pP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4"/>
            <a:chOff x="0" y="0"/>
            <a:chExt cx="3755974" cy="11226472"/>
          </a:xfrm>
        </p:grpSpPr>
        <p:sp>
          <p:nvSpPr>
            <p:cNvPr name="Freeform 17" id="17"/>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15912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5203993" y="1182624"/>
            <a:ext cx="11884895" cy="2249424"/>
            <a:chOff x="0" y="0"/>
            <a:chExt cx="15846527" cy="2999232"/>
          </a:xfrm>
        </p:grpSpPr>
        <p:sp>
          <p:nvSpPr>
            <p:cNvPr name="Freeform 8" id="8"/>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9" id="9"/>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System Requirements</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rot="-5329860">
            <a:off x="4110561" y="2220563"/>
            <a:ext cx="1400470"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5249713" y="3789045"/>
            <a:ext cx="11793455" cy="4118610"/>
          </a:xfrm>
          <a:prstGeom prst="rect">
            <a:avLst/>
          </a:prstGeom>
        </p:spPr>
        <p:txBody>
          <a:bodyPr anchor="t" rtlCol="false" tIns="0" lIns="0" bIns="0" rIns="0">
            <a:spAutoFit/>
          </a:bodyPr>
          <a:lstStyle/>
          <a:p>
            <a:pPr algn="l">
              <a:lnSpc>
                <a:spcPts val="2969"/>
              </a:lnSpc>
            </a:pPr>
            <a:r>
              <a:rPr lang="en-US" sz="274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Hardware Requirements:</a:t>
            </a:r>
          </a:p>
          <a:p>
            <a:pPr algn="l">
              <a:lnSpc>
                <a:spcPts val="2969"/>
              </a:lnSpc>
            </a:pPr>
            <a:r>
              <a:rPr lang="en-US" sz="2749">
                <a:solidFill>
                  <a:srgbClr val="FFFFFF"/>
                </a:solidFill>
                <a:latin typeface="Arimo"/>
                <a:ea typeface="Arimo"/>
                <a:cs typeface="Arimo"/>
                <a:sym typeface="Arimo"/>
              </a:rPr>
              <a:t> • Computer/Laptop with minimum 4GB RAM</a:t>
            </a:r>
          </a:p>
          <a:p>
            <a:pPr algn="l">
              <a:lnSpc>
                <a:spcPts val="2969"/>
              </a:lnSpc>
            </a:pPr>
            <a:r>
              <a:rPr lang="en-US" sz="2749">
                <a:solidFill>
                  <a:srgbClr val="FFFFFF"/>
                </a:solidFill>
                <a:latin typeface="Arimo"/>
                <a:ea typeface="Arimo"/>
                <a:cs typeface="Arimo"/>
                <a:sym typeface="Arimo"/>
              </a:rPr>
              <a:t> • Processor: Intel i3 or above</a:t>
            </a:r>
          </a:p>
          <a:p>
            <a:pPr algn="l">
              <a:lnSpc>
                <a:spcPts val="2969"/>
              </a:lnSpc>
            </a:pPr>
            <a:r>
              <a:rPr lang="en-US" sz="2749">
                <a:solidFill>
                  <a:srgbClr val="FFFFFF"/>
                </a:solidFill>
                <a:latin typeface="Arimo"/>
                <a:ea typeface="Arimo"/>
                <a:cs typeface="Arimo"/>
                <a:sym typeface="Arimo"/>
              </a:rPr>
              <a:t> • Hard Disk: 500GB (minimum)</a:t>
            </a:r>
          </a:p>
          <a:p>
            <a:pPr algn="l">
              <a:lnSpc>
                <a:spcPts val="2969"/>
              </a:lnSpc>
            </a:pPr>
          </a:p>
          <a:p>
            <a:pPr algn="l">
              <a:lnSpc>
                <a:spcPts val="2969"/>
              </a:lnSpc>
            </a:pPr>
            <a:r>
              <a:rPr lang="en-US" sz="274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Software Requirements:</a:t>
            </a:r>
          </a:p>
          <a:p>
            <a:pPr algn="l">
              <a:lnSpc>
                <a:spcPts val="2969"/>
              </a:lnSpc>
            </a:pPr>
            <a:r>
              <a:rPr lang="en-US" sz="2749">
                <a:solidFill>
                  <a:srgbClr val="FFFFFF"/>
                </a:solidFill>
                <a:latin typeface="Arimo"/>
                <a:ea typeface="Arimo"/>
                <a:cs typeface="Arimo"/>
                <a:sym typeface="Arimo"/>
              </a:rPr>
              <a:t> • Operating System: Windows </a:t>
            </a:r>
          </a:p>
          <a:p>
            <a:pPr algn="l">
              <a:lnSpc>
                <a:spcPts val="2969"/>
              </a:lnSpc>
            </a:pPr>
            <a:r>
              <a:rPr lang="en-US" sz="2749">
                <a:solidFill>
                  <a:srgbClr val="FFFFFF"/>
                </a:solidFill>
                <a:latin typeface="Arimo"/>
                <a:ea typeface="Arimo"/>
                <a:cs typeface="Arimo"/>
                <a:sym typeface="Arimo"/>
              </a:rPr>
              <a:t> • Programming Language: Java</a:t>
            </a:r>
          </a:p>
          <a:p>
            <a:pPr algn="l">
              <a:lnSpc>
                <a:spcPts val="2969"/>
              </a:lnSpc>
            </a:pPr>
            <a:r>
              <a:rPr lang="en-US" sz="2749">
                <a:solidFill>
                  <a:srgbClr val="FFFFFF"/>
                </a:solidFill>
                <a:latin typeface="Arimo"/>
                <a:ea typeface="Arimo"/>
                <a:cs typeface="Arimo"/>
                <a:sym typeface="Arimo"/>
              </a:rPr>
              <a:t> • IDE: Eclipse </a:t>
            </a:r>
          </a:p>
          <a:p>
            <a:pPr algn="l">
              <a:lnSpc>
                <a:spcPts val="2969"/>
              </a:lnSpc>
            </a:pPr>
            <a:r>
              <a:rPr lang="en-US" sz="2749">
                <a:solidFill>
                  <a:srgbClr val="FFFFFF"/>
                </a:solidFill>
                <a:latin typeface="Arimo"/>
                <a:ea typeface="Arimo"/>
                <a:cs typeface="Arimo"/>
                <a:sym typeface="Arimo"/>
              </a:rPr>
              <a:t> • JDK (Java Development Kit)</a:t>
            </a:r>
          </a:p>
          <a:p>
            <a:pPr algn="l">
              <a:lnSpc>
                <a:spcPts val="2969"/>
              </a:lnSpc>
            </a:pP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4"/>
            <a:chOff x="0" y="0"/>
            <a:chExt cx="3755974" cy="11226472"/>
          </a:xfrm>
        </p:grpSpPr>
        <p:sp>
          <p:nvSpPr>
            <p:cNvPr name="Freeform 17" id="17"/>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15912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5203993" y="1182624"/>
            <a:ext cx="11884895" cy="2249424"/>
            <a:chOff x="0" y="0"/>
            <a:chExt cx="15846527" cy="2999232"/>
          </a:xfrm>
        </p:grpSpPr>
        <p:sp>
          <p:nvSpPr>
            <p:cNvPr name="Freeform 8" id="8"/>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9" id="9"/>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System Design</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rot="-5329860">
            <a:off x="4110561" y="2220563"/>
            <a:ext cx="1400470"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796511" y="3261502"/>
            <a:ext cx="11793455" cy="6546723"/>
          </a:xfrm>
          <a:prstGeom prst="rect">
            <a:avLst/>
          </a:prstGeom>
        </p:spPr>
        <p:txBody>
          <a:bodyPr anchor="t" rtlCol="false" tIns="0" lIns="0" bIns="0" rIns="0">
            <a:spAutoFit/>
          </a:bodyPr>
          <a:lstStyle/>
          <a:p>
            <a:pPr algn="l">
              <a:lnSpc>
                <a:spcPts val="2916"/>
              </a:lnSpc>
            </a:pPr>
            <a:r>
              <a:rPr lang="en-US" sz="2700"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System Structure &amp; Workflow:</a:t>
            </a:r>
          </a:p>
          <a:p>
            <a:pPr algn="l">
              <a:lnSpc>
                <a:spcPts val="2916"/>
              </a:lnSpc>
            </a:pPr>
            <a:r>
              <a:rPr lang="en-US" sz="2700">
                <a:solidFill>
                  <a:srgbClr val="FFFFFF"/>
                </a:solidFill>
                <a:latin typeface="Arimo"/>
                <a:ea typeface="Arimo"/>
                <a:cs typeface="Arimo"/>
                <a:sym typeface="Arimo"/>
              </a:rPr>
              <a:t>The system allows users to enter participant details, which are stored and managed efficiently. Users can search, view, and update records as needed. The system also generates participant reports and ensures smooth operation until the user exits the system.</a:t>
            </a:r>
          </a:p>
          <a:p>
            <a:pPr algn="l">
              <a:lnSpc>
                <a:spcPts val="2916"/>
              </a:lnSpc>
            </a:pPr>
          </a:p>
          <a:p>
            <a:pPr algn="l">
              <a:lnSpc>
                <a:spcPts val="2916"/>
              </a:lnSpc>
            </a:pPr>
            <a:r>
              <a:rPr lang="en-US" sz="2700"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Algorithm Outline:</a:t>
            </a:r>
          </a:p>
          <a:p>
            <a:pPr algn="l">
              <a:lnSpc>
                <a:spcPts val="2916"/>
              </a:lnSpc>
            </a:pPr>
            <a:r>
              <a:rPr lang="en-US" sz="2700">
                <a:solidFill>
                  <a:srgbClr val="FFFFFF"/>
                </a:solidFill>
                <a:latin typeface="Arimo"/>
                <a:ea typeface="Arimo"/>
                <a:cs typeface="Arimo"/>
                <a:sym typeface="Arimo"/>
              </a:rPr>
              <a:t>• Start the program</a:t>
            </a:r>
          </a:p>
          <a:p>
            <a:pPr algn="l">
              <a:lnSpc>
                <a:spcPts val="2916"/>
              </a:lnSpc>
            </a:pPr>
            <a:r>
              <a:rPr lang="en-US" sz="2700">
                <a:solidFill>
                  <a:srgbClr val="FFFFFF"/>
                </a:solidFill>
                <a:latin typeface="Arimo"/>
                <a:ea typeface="Arimo"/>
                <a:cs typeface="Arimo"/>
                <a:sym typeface="Arimo"/>
              </a:rPr>
              <a:t> • Display menu options (Register / View / Update / Exit)</a:t>
            </a:r>
          </a:p>
          <a:p>
            <a:pPr algn="l">
              <a:lnSpc>
                <a:spcPts val="2916"/>
              </a:lnSpc>
            </a:pPr>
            <a:r>
              <a:rPr lang="en-US" sz="2700">
                <a:solidFill>
                  <a:srgbClr val="FFFFFF"/>
                </a:solidFill>
                <a:latin typeface="Arimo"/>
                <a:ea typeface="Arimo"/>
                <a:cs typeface="Arimo"/>
                <a:sym typeface="Arimo"/>
              </a:rPr>
              <a:t> • Get user choice</a:t>
            </a:r>
          </a:p>
          <a:p>
            <a:pPr algn="l">
              <a:lnSpc>
                <a:spcPts val="2916"/>
              </a:lnSpc>
            </a:pPr>
            <a:r>
              <a:rPr lang="en-US" sz="2700">
                <a:solidFill>
                  <a:srgbClr val="FFFFFF"/>
                </a:solidFill>
                <a:latin typeface="Arimo"/>
                <a:ea typeface="Arimo"/>
                <a:cs typeface="Arimo"/>
                <a:sym typeface="Arimo"/>
              </a:rPr>
              <a:t> • If Register → Enter and store participant details</a:t>
            </a:r>
          </a:p>
          <a:p>
            <a:pPr algn="l">
              <a:lnSpc>
                <a:spcPts val="2916"/>
              </a:lnSpc>
            </a:pPr>
            <a:r>
              <a:rPr lang="en-US" sz="2700">
                <a:solidFill>
                  <a:srgbClr val="FFFFFF"/>
                </a:solidFill>
                <a:latin typeface="Arimo"/>
                <a:ea typeface="Arimo"/>
                <a:cs typeface="Arimo"/>
                <a:sym typeface="Arimo"/>
              </a:rPr>
              <a:t> • If View → Display participant records</a:t>
            </a:r>
          </a:p>
          <a:p>
            <a:pPr algn="l">
              <a:lnSpc>
                <a:spcPts val="2916"/>
              </a:lnSpc>
            </a:pPr>
            <a:r>
              <a:rPr lang="en-US" sz="2700">
                <a:solidFill>
                  <a:srgbClr val="FFFFFF"/>
                </a:solidFill>
                <a:latin typeface="Arimo"/>
                <a:ea typeface="Arimo"/>
                <a:cs typeface="Arimo"/>
                <a:sym typeface="Arimo"/>
              </a:rPr>
              <a:t> • If Update → Modify existing details</a:t>
            </a:r>
          </a:p>
          <a:p>
            <a:pPr algn="l">
              <a:lnSpc>
                <a:spcPts val="2916"/>
              </a:lnSpc>
            </a:pPr>
            <a:r>
              <a:rPr lang="en-US" sz="2700">
                <a:solidFill>
                  <a:srgbClr val="FFFFFF"/>
                </a:solidFill>
                <a:latin typeface="Arimo"/>
                <a:ea typeface="Arimo"/>
                <a:cs typeface="Arimo"/>
                <a:sym typeface="Arimo"/>
              </a:rPr>
              <a:t> • Repeat until user selects Exit</a:t>
            </a:r>
          </a:p>
          <a:p>
            <a:pPr algn="l">
              <a:lnSpc>
                <a:spcPts val="2916"/>
              </a:lnSpc>
            </a:pPr>
            <a:r>
              <a:rPr lang="en-US" sz="2700">
                <a:solidFill>
                  <a:srgbClr val="FFFFFF"/>
                </a:solidFill>
                <a:latin typeface="Arimo"/>
                <a:ea typeface="Arimo"/>
                <a:cs typeface="Arimo"/>
                <a:sym typeface="Arimo"/>
              </a:rPr>
              <a:t> • End the program</a:t>
            </a:r>
          </a:p>
          <a:p>
            <a:pPr algn="l">
              <a:lnSpc>
                <a:spcPts val="2916"/>
              </a:lnSpc>
            </a:pPr>
          </a:p>
          <a:p>
            <a:pPr algn="l">
              <a:lnSpc>
                <a:spcPts val="2916"/>
              </a:lnSpc>
            </a:pPr>
          </a:p>
          <a:p>
            <a:pPr algn="l">
              <a:lnSpc>
                <a:spcPts val="2916"/>
              </a:lnSpc>
            </a:pP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4"/>
            <a:chOff x="0" y="0"/>
            <a:chExt cx="3755974" cy="11226472"/>
          </a:xfrm>
        </p:grpSpPr>
        <p:sp>
          <p:nvSpPr>
            <p:cNvPr name="Freeform 17" id="17"/>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5203993" y="1182624"/>
            <a:ext cx="11884895" cy="2249424"/>
            <a:chOff x="0" y="0"/>
            <a:chExt cx="15846527" cy="2999232"/>
          </a:xfrm>
        </p:grpSpPr>
        <p:sp>
          <p:nvSpPr>
            <p:cNvPr name="Freeform 4" id="4"/>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5" id="5"/>
            <p:cNvSpPr txBox="true"/>
            <p:nvPr/>
          </p:nvSpPr>
          <p:spPr>
            <a:xfrm>
              <a:off x="0" y="152400"/>
              <a:ext cx="15846527" cy="2846832"/>
            </a:xfrm>
            <a:prstGeom prst="rect">
              <a:avLst/>
            </a:prstGeom>
          </p:spPr>
          <p:txBody>
            <a:bodyPr anchor="ctr" rtlCol="false" tIns="0" lIns="0" bIns="0" rIns="0"/>
            <a:lstStyle/>
            <a:p>
              <a:pPr algn="l">
                <a:lnSpc>
                  <a:spcPts val="7200"/>
                </a:lnSpc>
              </a:pPr>
              <a:r>
                <a:rPr lang="en-US" b="true" sz="7500" spc="164">
                  <a:solidFill>
                    <a:srgbClr val="000000"/>
                  </a:solidFill>
                  <a:latin typeface="Big Shoulders Display Bold"/>
                  <a:ea typeface="Big Shoulders Display Bold"/>
                  <a:cs typeface="Big Shoulders Display Bold"/>
                  <a:sym typeface="Big Shoulders Display Bold"/>
                </a:rPr>
                <a:t>System Design</a:t>
              </a:r>
            </a:p>
          </p:txBody>
        </p:sp>
      </p:grpSp>
      <p:grpSp>
        <p:nvGrpSpPr>
          <p:cNvPr name="Group 6" id="6"/>
          <p:cNvGrpSpPr/>
          <p:nvPr/>
        </p:nvGrpSpPr>
        <p:grpSpPr>
          <a:xfrm rot="0">
            <a:off x="712727" y="726948"/>
            <a:ext cx="3193399" cy="8821379"/>
            <a:chOff x="0" y="0"/>
            <a:chExt cx="4257866" cy="11761838"/>
          </a:xfrm>
        </p:grpSpPr>
        <p:sp>
          <p:nvSpPr>
            <p:cNvPr name="Freeform 7" id="7"/>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8" id="8"/>
          <p:cNvSpPr/>
          <p:nvPr/>
        </p:nvSpPr>
        <p:spPr>
          <a:xfrm rot="-5329860">
            <a:off x="4110561" y="2220563"/>
            <a:ext cx="1400470" cy="0"/>
          </a:xfrm>
          <a:prstGeom prst="line">
            <a:avLst/>
          </a:prstGeom>
          <a:ln cap="rnd" w="19050">
            <a:solidFill>
              <a:srgbClr val="1CADE4"/>
            </a:solidFill>
            <a:prstDash val="solid"/>
            <a:headEnd type="none" len="sm" w="sm"/>
            <a:tailEnd type="none" len="sm" w="sm"/>
          </a:ln>
        </p:spPr>
      </p:sp>
      <p:grpSp>
        <p:nvGrpSpPr>
          <p:cNvPr name="Group 9" id="9"/>
          <p:cNvGrpSpPr/>
          <p:nvPr/>
        </p:nvGrpSpPr>
        <p:grpSpPr>
          <a:xfrm rot="0">
            <a:off x="849678" y="982247"/>
            <a:ext cx="2816981" cy="704250"/>
            <a:chOff x="0" y="0"/>
            <a:chExt cx="3755974" cy="939000"/>
          </a:xfrm>
        </p:grpSpPr>
        <p:sp>
          <p:nvSpPr>
            <p:cNvPr name="Freeform 10" id="10"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1" id="11"/>
          <p:cNvGrpSpPr/>
          <p:nvPr/>
        </p:nvGrpSpPr>
        <p:grpSpPr>
          <a:xfrm rot="0">
            <a:off x="849678" y="884901"/>
            <a:ext cx="2816981" cy="8419854"/>
            <a:chOff x="0" y="0"/>
            <a:chExt cx="3755974" cy="11226472"/>
          </a:xfrm>
        </p:grpSpPr>
        <p:sp>
          <p:nvSpPr>
            <p:cNvPr name="Freeform 12" id="12"/>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3" id="13"/>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
        <p:nvSpPr>
          <p:cNvPr name="Freeform 14" id="14"/>
          <p:cNvSpPr/>
          <p:nvPr/>
        </p:nvSpPr>
        <p:spPr>
          <a:xfrm flipH="false" flipV="false" rot="0">
            <a:off x="4124860" y="4349556"/>
            <a:ext cx="13740021" cy="1587887"/>
          </a:xfrm>
          <a:custGeom>
            <a:avLst/>
            <a:gdLst/>
            <a:ahLst/>
            <a:cxnLst/>
            <a:rect r="r" b="b" t="t" l="l"/>
            <a:pathLst>
              <a:path h="1587887" w="13740021">
                <a:moveTo>
                  <a:pt x="0" y="0"/>
                </a:moveTo>
                <a:lnTo>
                  <a:pt x="13740021" y="0"/>
                </a:lnTo>
                <a:lnTo>
                  <a:pt x="13740021" y="1587888"/>
                </a:lnTo>
                <a:lnTo>
                  <a:pt x="0" y="1587888"/>
                </a:lnTo>
                <a:lnTo>
                  <a:pt x="0" y="0"/>
                </a:lnTo>
                <a:close/>
              </a:path>
            </a:pathLst>
          </a:custGeom>
          <a:blipFill>
            <a:blip r:embed="rId4"/>
            <a:stretch>
              <a:fillRect l="0" t="-115" r="0" b="-115"/>
            </a:stretch>
          </a:blipFill>
        </p:spPr>
      </p:sp>
      <p:sp>
        <p:nvSpPr>
          <p:cNvPr name="TextBox 15" id="15"/>
          <p:cNvSpPr txBox="true"/>
          <p:nvPr/>
        </p:nvSpPr>
        <p:spPr>
          <a:xfrm rot="0">
            <a:off x="4369162" y="3336798"/>
            <a:ext cx="4071342" cy="804543"/>
          </a:xfrm>
          <a:prstGeom prst="rect">
            <a:avLst/>
          </a:prstGeom>
        </p:spPr>
        <p:txBody>
          <a:bodyPr anchor="t" rtlCol="false" tIns="0" lIns="0" bIns="0" rIns="0">
            <a:spAutoFit/>
          </a:bodyPr>
          <a:lstStyle/>
          <a:p>
            <a:pPr algn="ctr">
              <a:lnSpc>
                <a:spcPts val="6580"/>
              </a:lnSpc>
              <a:spcBef>
                <a:spcPct val="0"/>
              </a:spcBef>
            </a:pPr>
            <a:r>
              <a:rPr lang="en-US" sz="4700" spc="103">
                <a:solidFill>
                  <a:srgbClr val="000000"/>
                </a:solidFill>
                <a:latin typeface="Aileron"/>
                <a:ea typeface="Aileron"/>
                <a:cs typeface="Aileron"/>
                <a:sym typeface="Aileron"/>
              </a:rPr>
              <a:t>Block Diagram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15912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4927783" y="1028700"/>
            <a:ext cx="11884895" cy="2249424"/>
            <a:chOff x="0" y="0"/>
            <a:chExt cx="15846527" cy="2999232"/>
          </a:xfrm>
        </p:grpSpPr>
        <p:sp>
          <p:nvSpPr>
            <p:cNvPr name="Freeform 8" id="8"/>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9" id="9"/>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Module Description</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flipV="true">
            <a:off x="4695060" y="1334566"/>
            <a:ext cx="28572" cy="1400179"/>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492159" y="3018368"/>
            <a:ext cx="12246658" cy="6529959"/>
          </a:xfrm>
          <a:prstGeom prst="rect">
            <a:avLst/>
          </a:prstGeom>
        </p:spPr>
        <p:txBody>
          <a:bodyPr anchor="t" rtlCol="false" tIns="0" lIns="0" bIns="0" rIns="0">
            <a:spAutoFit/>
          </a:bodyPr>
          <a:lstStyle/>
          <a:p>
            <a:pPr algn="l">
              <a:lnSpc>
                <a:spcPts val="3239"/>
              </a:lnSpc>
            </a:pPr>
            <a:r>
              <a:rPr lang="en-US" sz="2999">
                <a:solidFill>
                  <a:srgbClr val="FFFFFF"/>
                </a:solidFill>
                <a:latin typeface="Arimo"/>
                <a:ea typeface="Arimo"/>
                <a:cs typeface="Arimo"/>
                <a:sym typeface="Arimo"/>
              </a:rPr>
              <a:t>I</a:t>
            </a:r>
            <a:r>
              <a:rPr lang="en-US" sz="299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nput Module:</a:t>
            </a:r>
          </a:p>
          <a:p>
            <a:pPr algn="l">
              <a:lnSpc>
                <a:spcPts val="3239"/>
              </a:lnSpc>
            </a:pPr>
            <a:r>
              <a:rPr lang="en-US" sz="2999">
                <a:solidFill>
                  <a:srgbClr val="FFFFFF"/>
                </a:solidFill>
                <a:latin typeface="Arimo"/>
                <a:ea typeface="Arimo"/>
                <a:cs typeface="Arimo"/>
                <a:sym typeface="Arimo"/>
              </a:rPr>
              <a:t> This module collects user input such as participant name, event details, and contact information required for registration.</a:t>
            </a:r>
          </a:p>
          <a:p>
            <a:pPr algn="l">
              <a:lnSpc>
                <a:spcPts val="3239"/>
              </a:lnSpc>
            </a:pPr>
          </a:p>
          <a:p>
            <a:pPr algn="l">
              <a:lnSpc>
                <a:spcPts val="3239"/>
              </a:lnSpc>
            </a:pPr>
            <a:r>
              <a:rPr lang="en-US" sz="299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Processing Module:</a:t>
            </a:r>
          </a:p>
          <a:p>
            <a:pPr algn="l">
              <a:lnSpc>
                <a:spcPts val="3239"/>
              </a:lnSpc>
            </a:pPr>
            <a:r>
              <a:rPr lang="en-US" sz="2999">
                <a:solidFill>
                  <a:srgbClr val="FFFFFF"/>
                </a:solidFill>
                <a:latin typeface="Arimo"/>
                <a:ea typeface="Arimo"/>
                <a:cs typeface="Arimo"/>
                <a:sym typeface="Arimo"/>
              </a:rPr>
              <a:t> This module processes the entered data, applies necessary logic, and manages operations like adding, updating, and organizing participant records.</a:t>
            </a:r>
          </a:p>
          <a:p>
            <a:pPr algn="l">
              <a:lnSpc>
                <a:spcPts val="3239"/>
              </a:lnSpc>
            </a:pPr>
          </a:p>
          <a:p>
            <a:pPr algn="l">
              <a:lnSpc>
                <a:spcPts val="3239"/>
              </a:lnSpc>
            </a:pPr>
            <a:r>
              <a:rPr lang="en-US" sz="299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Output Module:</a:t>
            </a:r>
          </a:p>
          <a:p>
            <a:pPr algn="l">
              <a:lnSpc>
                <a:spcPts val="3239"/>
              </a:lnSpc>
            </a:pPr>
            <a:r>
              <a:rPr lang="en-US" sz="2999">
                <a:solidFill>
                  <a:srgbClr val="FFFFFF"/>
                </a:solidFill>
                <a:latin typeface="Arimo"/>
                <a:ea typeface="Arimo"/>
                <a:cs typeface="Arimo"/>
                <a:sym typeface="Arimo"/>
              </a:rPr>
              <a:t> This module displays the processed information, including participant details and generated reports, in a clear and readable format.</a:t>
            </a:r>
          </a:p>
          <a:p>
            <a:pPr algn="l">
              <a:lnSpc>
                <a:spcPts val="3239"/>
              </a:lnSpc>
            </a:pPr>
            <a:r>
              <a:rPr lang="en-US" sz="2999">
                <a:solidFill>
                  <a:srgbClr val="FFFFFF"/>
                </a:solidFill>
                <a:latin typeface="Arimo"/>
                <a:ea typeface="Arimo"/>
                <a:cs typeface="Arimo"/>
                <a:sym typeface="Arimo"/>
              </a:rPr>
              <a:t>File Handling Module:</a:t>
            </a:r>
          </a:p>
          <a:p>
            <a:pPr algn="l">
              <a:lnSpc>
                <a:spcPts val="3239"/>
              </a:lnSpc>
            </a:pPr>
            <a:r>
              <a:rPr lang="en-US" sz="2999">
                <a:solidFill>
                  <a:srgbClr val="FFFFFF"/>
                </a:solidFill>
                <a:latin typeface="Arimo"/>
                <a:ea typeface="Arimo"/>
                <a:cs typeface="Arimo"/>
                <a:sym typeface="Arimo"/>
              </a:rPr>
              <a:t> This module is responsible for storing participant data in files and retrieving it whenever required for future use.</a:t>
            </a:r>
          </a:p>
          <a:p>
            <a:pPr algn="l">
              <a:lnSpc>
                <a:spcPts val="2916"/>
              </a:lnSpc>
            </a:pP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4"/>
            <a:chOff x="0" y="0"/>
            <a:chExt cx="3755974" cy="11226472"/>
          </a:xfrm>
        </p:grpSpPr>
        <p:sp>
          <p:nvSpPr>
            <p:cNvPr name="Freeform 17" id="17"/>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15912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5249713" y="1182624"/>
            <a:ext cx="11839175" cy="2249424"/>
            <a:chOff x="0" y="0"/>
            <a:chExt cx="15785567" cy="2999232"/>
          </a:xfrm>
        </p:grpSpPr>
        <p:sp>
          <p:nvSpPr>
            <p:cNvPr name="Freeform 8" id="8"/>
            <p:cNvSpPr/>
            <p:nvPr/>
          </p:nvSpPr>
          <p:spPr>
            <a:xfrm flipH="false" flipV="false" rot="0">
              <a:off x="0" y="0"/>
              <a:ext cx="15785568" cy="2999232"/>
            </a:xfrm>
            <a:custGeom>
              <a:avLst/>
              <a:gdLst/>
              <a:ahLst/>
              <a:cxnLst/>
              <a:rect r="r" b="b" t="t" l="l"/>
              <a:pathLst>
                <a:path h="2999232" w="15785568">
                  <a:moveTo>
                    <a:pt x="0" y="0"/>
                  </a:moveTo>
                  <a:lnTo>
                    <a:pt x="15785568" y="0"/>
                  </a:lnTo>
                  <a:lnTo>
                    <a:pt x="15785568" y="2999232"/>
                  </a:lnTo>
                  <a:lnTo>
                    <a:pt x="0" y="2999232"/>
                  </a:lnTo>
                  <a:close/>
                </a:path>
              </a:pathLst>
            </a:custGeom>
            <a:blipFill>
              <a:blip r:embed="rId2">
                <a:alphaModFix amt="0"/>
              </a:blip>
              <a:stretch>
                <a:fillRect l="0" t="-52949" r="-386" b="-52949"/>
              </a:stretch>
            </a:blipFill>
          </p:spPr>
        </p:sp>
        <p:sp>
          <p:nvSpPr>
            <p:cNvPr name="TextBox 9" id="9"/>
            <p:cNvSpPr txBox="true"/>
            <p:nvPr/>
          </p:nvSpPr>
          <p:spPr>
            <a:xfrm>
              <a:off x="0" y="152400"/>
              <a:ext cx="1578556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Algorithm </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rot="-5329860">
            <a:off x="4110561" y="2220563"/>
            <a:ext cx="1400470"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796511" y="3694176"/>
            <a:ext cx="11793455" cy="3844290"/>
          </a:xfrm>
          <a:prstGeom prst="rect">
            <a:avLst/>
          </a:prstGeom>
        </p:spPr>
        <p:txBody>
          <a:bodyPr anchor="t" rtlCol="false" tIns="0" lIns="0" bIns="0" rIns="0">
            <a:spAutoFit/>
          </a:bodyPr>
          <a:lstStyle/>
          <a:p>
            <a:pPr algn="l">
              <a:lnSpc>
                <a:spcPts val="3779"/>
              </a:lnSpc>
            </a:pPr>
            <a:r>
              <a:rPr lang="en-US" sz="3499">
                <a:solidFill>
                  <a:srgbClr val="1CADE4"/>
                </a:solidFill>
                <a:latin typeface="Arimo"/>
                <a:ea typeface="Arimo"/>
                <a:cs typeface="Arimo"/>
                <a:sym typeface="Arimo"/>
              </a:rPr>
              <a:t>•</a:t>
            </a:r>
            <a:r>
              <a:rPr lang="en-US" sz="3499">
                <a:solidFill>
                  <a:srgbClr val="FFFFFF"/>
                </a:solidFill>
                <a:latin typeface="Arimo"/>
                <a:ea typeface="Arimo"/>
                <a:cs typeface="Arimo"/>
                <a:sym typeface="Arimo"/>
              </a:rPr>
              <a:t> Start the program</a:t>
            </a:r>
          </a:p>
          <a:p>
            <a:pPr algn="l">
              <a:lnSpc>
                <a:spcPts val="3779"/>
              </a:lnSpc>
            </a:pPr>
            <a:r>
              <a:rPr lang="en-US" sz="3499">
                <a:solidFill>
                  <a:srgbClr val="FFFFFF"/>
                </a:solidFill>
                <a:latin typeface="Arimo"/>
                <a:ea typeface="Arimo"/>
                <a:cs typeface="Arimo"/>
                <a:sym typeface="Arimo"/>
              </a:rPr>
              <a:t> • Display menu options (Register / View / Update / Exit)</a:t>
            </a:r>
          </a:p>
          <a:p>
            <a:pPr algn="l">
              <a:lnSpc>
                <a:spcPts val="3779"/>
              </a:lnSpc>
            </a:pPr>
            <a:r>
              <a:rPr lang="en-US" sz="3499">
                <a:solidFill>
                  <a:srgbClr val="FFFFFF"/>
                </a:solidFill>
                <a:latin typeface="Arimo"/>
                <a:ea typeface="Arimo"/>
                <a:cs typeface="Arimo"/>
                <a:sym typeface="Arimo"/>
              </a:rPr>
              <a:t> • Get user choice</a:t>
            </a:r>
          </a:p>
          <a:p>
            <a:pPr algn="l">
              <a:lnSpc>
                <a:spcPts val="3779"/>
              </a:lnSpc>
            </a:pPr>
            <a:r>
              <a:rPr lang="en-US" sz="3499">
                <a:solidFill>
                  <a:srgbClr val="FFFFFF"/>
                </a:solidFill>
                <a:latin typeface="Arimo"/>
                <a:ea typeface="Arimo"/>
                <a:cs typeface="Arimo"/>
                <a:sym typeface="Arimo"/>
              </a:rPr>
              <a:t> • If Register → Enter and store participant details</a:t>
            </a:r>
          </a:p>
          <a:p>
            <a:pPr algn="l">
              <a:lnSpc>
                <a:spcPts val="3779"/>
              </a:lnSpc>
            </a:pPr>
            <a:r>
              <a:rPr lang="en-US" sz="3499">
                <a:solidFill>
                  <a:srgbClr val="FFFFFF"/>
                </a:solidFill>
                <a:latin typeface="Arimo"/>
                <a:ea typeface="Arimo"/>
                <a:cs typeface="Arimo"/>
                <a:sym typeface="Arimo"/>
              </a:rPr>
              <a:t> • If View → Display participant records</a:t>
            </a:r>
          </a:p>
          <a:p>
            <a:pPr algn="l">
              <a:lnSpc>
                <a:spcPts val="3779"/>
              </a:lnSpc>
            </a:pPr>
            <a:r>
              <a:rPr lang="en-US" sz="3499">
                <a:solidFill>
                  <a:srgbClr val="FFFFFF"/>
                </a:solidFill>
                <a:latin typeface="Arimo"/>
                <a:ea typeface="Arimo"/>
                <a:cs typeface="Arimo"/>
                <a:sym typeface="Arimo"/>
              </a:rPr>
              <a:t> • If Update → Modify existing details</a:t>
            </a:r>
          </a:p>
          <a:p>
            <a:pPr algn="l">
              <a:lnSpc>
                <a:spcPts val="3779"/>
              </a:lnSpc>
            </a:pPr>
            <a:r>
              <a:rPr lang="en-US" sz="3499">
                <a:solidFill>
                  <a:srgbClr val="FFFFFF"/>
                </a:solidFill>
                <a:latin typeface="Arimo"/>
                <a:ea typeface="Arimo"/>
                <a:cs typeface="Arimo"/>
                <a:sym typeface="Arimo"/>
              </a:rPr>
              <a:t> • Repeat until user selects Exit</a:t>
            </a:r>
          </a:p>
          <a:p>
            <a:pPr algn="l">
              <a:lnSpc>
                <a:spcPts val="3779"/>
              </a:lnSpc>
            </a:pPr>
            <a:r>
              <a:rPr lang="en-US" sz="3499">
                <a:solidFill>
                  <a:srgbClr val="FFFFFF"/>
                </a:solidFill>
                <a:latin typeface="Arimo"/>
                <a:ea typeface="Arimo"/>
                <a:cs typeface="Arimo"/>
                <a:sym typeface="Arimo"/>
              </a:rPr>
              <a:t> • End the program </a:t>
            </a: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4"/>
            <a:chOff x="0" y="0"/>
            <a:chExt cx="3755974" cy="11226472"/>
          </a:xfrm>
        </p:grpSpPr>
        <p:sp>
          <p:nvSpPr>
            <p:cNvPr name="Freeform 17" id="17"/>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5203993" y="209660"/>
            <a:ext cx="11884895" cy="2249424"/>
            <a:chOff x="0" y="0"/>
            <a:chExt cx="15846527" cy="2999232"/>
          </a:xfrm>
        </p:grpSpPr>
        <p:sp>
          <p:nvSpPr>
            <p:cNvPr name="Freeform 4" id="4"/>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5" id="5"/>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000000"/>
                  </a:solidFill>
                  <a:latin typeface="Big Shoulders Display"/>
                  <a:ea typeface="Big Shoulders Display"/>
                  <a:cs typeface="Big Shoulders Display"/>
                  <a:sym typeface="Big Shoulders Display"/>
                </a:rPr>
                <a:t> Flowchart</a:t>
              </a:r>
            </a:p>
          </p:txBody>
        </p:sp>
      </p:grpSp>
      <p:grpSp>
        <p:nvGrpSpPr>
          <p:cNvPr name="Group 6" id="6"/>
          <p:cNvGrpSpPr/>
          <p:nvPr/>
        </p:nvGrpSpPr>
        <p:grpSpPr>
          <a:xfrm rot="0">
            <a:off x="712727" y="726948"/>
            <a:ext cx="3193399" cy="8821379"/>
            <a:chOff x="0" y="0"/>
            <a:chExt cx="4257866" cy="11761838"/>
          </a:xfrm>
        </p:grpSpPr>
        <p:sp>
          <p:nvSpPr>
            <p:cNvPr name="Freeform 7" id="7"/>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8" id="8"/>
          <p:cNvSpPr/>
          <p:nvPr/>
        </p:nvSpPr>
        <p:spPr>
          <a:xfrm flipV="true">
            <a:off x="4846614" y="634282"/>
            <a:ext cx="28572" cy="1400179"/>
          </a:xfrm>
          <a:prstGeom prst="line">
            <a:avLst/>
          </a:prstGeom>
          <a:ln cap="rnd" w="19050">
            <a:solidFill>
              <a:srgbClr val="1CADE4"/>
            </a:solidFill>
            <a:prstDash val="solid"/>
            <a:headEnd type="none" len="sm" w="sm"/>
            <a:tailEnd type="none" len="sm" w="sm"/>
          </a:ln>
        </p:spPr>
      </p:sp>
      <p:grpSp>
        <p:nvGrpSpPr>
          <p:cNvPr name="Group 9" id="9"/>
          <p:cNvGrpSpPr/>
          <p:nvPr/>
        </p:nvGrpSpPr>
        <p:grpSpPr>
          <a:xfrm rot="0">
            <a:off x="849678" y="982247"/>
            <a:ext cx="2816981" cy="704250"/>
            <a:chOff x="0" y="0"/>
            <a:chExt cx="3755974" cy="939000"/>
          </a:xfrm>
        </p:grpSpPr>
        <p:sp>
          <p:nvSpPr>
            <p:cNvPr name="Freeform 10" id="10"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1" id="11"/>
          <p:cNvGrpSpPr/>
          <p:nvPr/>
        </p:nvGrpSpPr>
        <p:grpSpPr>
          <a:xfrm rot="0">
            <a:off x="849678" y="884901"/>
            <a:ext cx="2816981" cy="8419854"/>
            <a:chOff x="0" y="0"/>
            <a:chExt cx="3755974" cy="11226472"/>
          </a:xfrm>
        </p:grpSpPr>
        <p:sp>
          <p:nvSpPr>
            <p:cNvPr name="Freeform 12" id="12"/>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3" id="13"/>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
        <p:nvSpPr>
          <p:cNvPr name="Freeform 14" id="14"/>
          <p:cNvSpPr/>
          <p:nvPr/>
        </p:nvSpPr>
        <p:spPr>
          <a:xfrm flipH="false" flipV="false" rot="0">
            <a:off x="6179474" y="2034461"/>
            <a:ext cx="8305449" cy="7734449"/>
          </a:xfrm>
          <a:custGeom>
            <a:avLst/>
            <a:gdLst/>
            <a:ahLst/>
            <a:cxnLst/>
            <a:rect r="r" b="b" t="t" l="l"/>
            <a:pathLst>
              <a:path h="7734449" w="8305449">
                <a:moveTo>
                  <a:pt x="0" y="0"/>
                </a:moveTo>
                <a:lnTo>
                  <a:pt x="8305448" y="0"/>
                </a:lnTo>
                <a:lnTo>
                  <a:pt x="8305448" y="7734449"/>
                </a:lnTo>
                <a:lnTo>
                  <a:pt x="0" y="7734449"/>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15912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5203993" y="1182624"/>
            <a:ext cx="11884895" cy="2249424"/>
            <a:chOff x="0" y="0"/>
            <a:chExt cx="15846527" cy="2999232"/>
          </a:xfrm>
        </p:grpSpPr>
        <p:sp>
          <p:nvSpPr>
            <p:cNvPr name="Freeform 8" id="8"/>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9" id="9"/>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Implementation</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rot="-5329860">
            <a:off x="4110561" y="2220563"/>
            <a:ext cx="1400470"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796511" y="3451098"/>
            <a:ext cx="11793455" cy="5710809"/>
          </a:xfrm>
          <a:prstGeom prst="rect">
            <a:avLst/>
          </a:prstGeom>
        </p:spPr>
        <p:txBody>
          <a:bodyPr anchor="t" rtlCol="false" tIns="0" lIns="0" bIns="0" rIns="0">
            <a:spAutoFit/>
          </a:bodyPr>
          <a:lstStyle/>
          <a:p>
            <a:pPr algn="l">
              <a:lnSpc>
                <a:spcPts val="3239"/>
              </a:lnSpc>
            </a:pPr>
            <a:r>
              <a:rPr lang="en-US" sz="2999">
                <a:solidFill>
                  <a:srgbClr val="FFFFFF"/>
                </a:solidFill>
                <a:latin typeface="Arimo"/>
                <a:ea typeface="Arimo"/>
                <a:cs typeface="Arimo"/>
                <a:sym typeface="Arimo"/>
              </a:rPr>
              <a:t>The Event Registration and Participant Management System is implemented using programming techniques that ensure efficient handling of participant data and smooth system operation.</a:t>
            </a:r>
          </a:p>
          <a:p>
            <a:pPr algn="l">
              <a:lnSpc>
                <a:spcPts val="3239"/>
              </a:lnSpc>
            </a:pPr>
          </a:p>
          <a:p>
            <a:pPr algn="l">
              <a:lnSpc>
                <a:spcPts val="3239"/>
              </a:lnSpc>
            </a:pPr>
            <a:r>
              <a:rPr lang="en-US" sz="299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Techniques Used:</a:t>
            </a:r>
          </a:p>
          <a:p>
            <a:pPr algn="l">
              <a:lnSpc>
                <a:spcPts val="3239"/>
              </a:lnSpc>
            </a:pPr>
            <a:r>
              <a:rPr lang="en-US" sz="2999">
                <a:solidFill>
                  <a:srgbClr val="FFFFFF"/>
                </a:solidFill>
                <a:latin typeface="Arimo"/>
                <a:ea typeface="Arimo"/>
                <a:cs typeface="Arimo"/>
                <a:sym typeface="Arimo"/>
              </a:rPr>
              <a:t> • Loops and conditional statements are used to control the menu-driven system and manage user choices like registration, viewing, and updating participant details.</a:t>
            </a:r>
          </a:p>
          <a:p>
            <a:pPr algn="l">
              <a:lnSpc>
                <a:spcPts val="3239"/>
              </a:lnSpc>
            </a:pPr>
            <a:r>
              <a:rPr lang="en-US" sz="2999">
                <a:solidFill>
                  <a:srgbClr val="FFFFFF"/>
                </a:solidFill>
                <a:latin typeface="Arimo"/>
                <a:ea typeface="Arimo"/>
                <a:cs typeface="Arimo"/>
                <a:sym typeface="Arimo"/>
              </a:rPr>
              <a:t> • Functions and arrays are used to store and manage multiple participant records efficiently and to organize the program into reusable components.</a:t>
            </a:r>
          </a:p>
          <a:p>
            <a:pPr algn="l">
              <a:lnSpc>
                <a:spcPts val="3239"/>
              </a:lnSpc>
            </a:pPr>
            <a:r>
              <a:rPr lang="en-US" sz="2999">
                <a:solidFill>
                  <a:srgbClr val="FFFFFF"/>
                </a:solidFill>
                <a:latin typeface="Arimo"/>
                <a:ea typeface="Arimo"/>
                <a:cs typeface="Arimo"/>
                <a:sym typeface="Arimo"/>
              </a:rPr>
              <a:t> • File handling is used to save participant details and retrieve them when needed, ensuring proper data storage and management.</a:t>
            </a:r>
          </a:p>
          <a:p>
            <a:pPr algn="l">
              <a:lnSpc>
                <a:spcPts val="2916"/>
              </a:lnSpc>
            </a:pP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4"/>
            <a:chOff x="0" y="0"/>
            <a:chExt cx="3755974" cy="11226472"/>
          </a:xfrm>
        </p:grpSpPr>
        <p:sp>
          <p:nvSpPr>
            <p:cNvPr name="Freeform 17" id="17"/>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5224283" y="726948"/>
            <a:ext cx="11884895" cy="2249424"/>
            <a:chOff x="0" y="0"/>
            <a:chExt cx="15846527" cy="2999232"/>
          </a:xfrm>
        </p:grpSpPr>
        <p:sp>
          <p:nvSpPr>
            <p:cNvPr name="Freeform 4" id="4"/>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5" id="5"/>
            <p:cNvSpPr txBox="true"/>
            <p:nvPr/>
          </p:nvSpPr>
          <p:spPr>
            <a:xfrm>
              <a:off x="0" y="152400"/>
              <a:ext cx="15846527" cy="2846832"/>
            </a:xfrm>
            <a:prstGeom prst="rect">
              <a:avLst/>
            </a:prstGeom>
          </p:spPr>
          <p:txBody>
            <a:bodyPr anchor="ctr" rtlCol="false" tIns="0" lIns="0" bIns="0" rIns="0"/>
            <a:lstStyle/>
            <a:p>
              <a:pPr algn="l">
                <a:lnSpc>
                  <a:spcPts val="7200"/>
                </a:lnSpc>
              </a:pPr>
              <a:r>
                <a:rPr lang="en-US" b="true" sz="7500" spc="164">
                  <a:solidFill>
                    <a:srgbClr val="000000"/>
                  </a:solidFill>
                  <a:latin typeface="Big Shoulders Display Bold"/>
                  <a:ea typeface="Big Shoulders Display Bold"/>
                  <a:cs typeface="Big Shoulders Display Bold"/>
                  <a:sym typeface="Big Shoulders Display Bold"/>
                </a:rPr>
                <a:t>Output Screens</a:t>
              </a:r>
            </a:p>
          </p:txBody>
        </p:sp>
      </p:grpSp>
      <p:grpSp>
        <p:nvGrpSpPr>
          <p:cNvPr name="Group 6" id="6"/>
          <p:cNvGrpSpPr/>
          <p:nvPr/>
        </p:nvGrpSpPr>
        <p:grpSpPr>
          <a:xfrm rot="0">
            <a:off x="712727" y="726948"/>
            <a:ext cx="3193399" cy="8821379"/>
            <a:chOff x="0" y="0"/>
            <a:chExt cx="4257866" cy="11761838"/>
          </a:xfrm>
        </p:grpSpPr>
        <p:sp>
          <p:nvSpPr>
            <p:cNvPr name="Freeform 7" id="7"/>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8" id="8"/>
          <p:cNvSpPr/>
          <p:nvPr/>
        </p:nvSpPr>
        <p:spPr>
          <a:xfrm flipV="true">
            <a:off x="5009233" y="1151571"/>
            <a:ext cx="28572" cy="1400179"/>
          </a:xfrm>
          <a:prstGeom prst="line">
            <a:avLst/>
          </a:prstGeom>
          <a:ln cap="rnd" w="19050">
            <a:solidFill>
              <a:srgbClr val="1CADE4"/>
            </a:solidFill>
            <a:prstDash val="solid"/>
            <a:headEnd type="none" len="sm" w="sm"/>
            <a:tailEnd type="none" len="sm" w="sm"/>
          </a:ln>
        </p:spPr>
      </p:sp>
      <p:grpSp>
        <p:nvGrpSpPr>
          <p:cNvPr name="Group 9" id="9"/>
          <p:cNvGrpSpPr/>
          <p:nvPr/>
        </p:nvGrpSpPr>
        <p:grpSpPr>
          <a:xfrm rot="0">
            <a:off x="849678" y="982247"/>
            <a:ext cx="2816981" cy="704250"/>
            <a:chOff x="0" y="0"/>
            <a:chExt cx="3755974" cy="939000"/>
          </a:xfrm>
        </p:grpSpPr>
        <p:sp>
          <p:nvSpPr>
            <p:cNvPr name="Freeform 10" id="10"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1" id="11"/>
          <p:cNvGrpSpPr/>
          <p:nvPr/>
        </p:nvGrpSpPr>
        <p:grpSpPr>
          <a:xfrm rot="0">
            <a:off x="849678" y="884901"/>
            <a:ext cx="2816981" cy="8419854"/>
            <a:chOff x="0" y="0"/>
            <a:chExt cx="3755974" cy="11226472"/>
          </a:xfrm>
        </p:grpSpPr>
        <p:sp>
          <p:nvSpPr>
            <p:cNvPr name="Freeform 12" id="12"/>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3" id="13"/>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
        <p:nvSpPr>
          <p:cNvPr name="Freeform 14" id="14"/>
          <p:cNvSpPr/>
          <p:nvPr/>
        </p:nvSpPr>
        <p:spPr>
          <a:xfrm flipH="false" flipV="false" rot="0">
            <a:off x="5385223" y="2551749"/>
            <a:ext cx="9486941" cy="6221788"/>
          </a:xfrm>
          <a:custGeom>
            <a:avLst/>
            <a:gdLst/>
            <a:ahLst/>
            <a:cxnLst/>
            <a:rect r="r" b="b" t="t" l="l"/>
            <a:pathLst>
              <a:path h="6221788" w="9486941">
                <a:moveTo>
                  <a:pt x="0" y="0"/>
                </a:moveTo>
                <a:lnTo>
                  <a:pt x="9486941" y="0"/>
                </a:lnTo>
                <a:lnTo>
                  <a:pt x="9486941" y="6221788"/>
                </a:lnTo>
                <a:lnTo>
                  <a:pt x="0" y="6221788"/>
                </a:lnTo>
                <a:lnTo>
                  <a:pt x="0" y="0"/>
                </a:lnTo>
                <a:close/>
              </a:path>
            </a:pathLst>
          </a:custGeom>
          <a:blipFill>
            <a:blip r:embed="rId4"/>
            <a:stretch>
              <a:fillRect l="0" t="0" r="0" b="0"/>
            </a:stretch>
          </a:blipFill>
        </p:spPr>
      </p:sp>
      <p:sp>
        <p:nvSpPr>
          <p:cNvPr name="TextBox 15" id="15"/>
          <p:cNvSpPr txBox="true"/>
          <p:nvPr/>
        </p:nvSpPr>
        <p:spPr>
          <a:xfrm rot="0">
            <a:off x="3991824" y="8986352"/>
            <a:ext cx="13954602" cy="1057275"/>
          </a:xfrm>
          <a:prstGeom prst="rect">
            <a:avLst/>
          </a:prstGeom>
        </p:spPr>
        <p:txBody>
          <a:bodyPr anchor="t" rtlCol="false" tIns="0" lIns="0" bIns="0" rIns="0">
            <a:spAutoFit/>
          </a:bodyPr>
          <a:lstStyle/>
          <a:p>
            <a:pPr algn="ctr">
              <a:lnSpc>
                <a:spcPts val="4200"/>
              </a:lnSpc>
            </a:pPr>
            <a:r>
              <a:rPr lang="en-US" b="true" sz="3000" spc="153">
                <a:solidFill>
                  <a:srgbClr val="000000"/>
                </a:solidFill>
                <a:latin typeface="Big Shoulders Display Bold"/>
                <a:ea typeface="Big Shoulders Display Bold"/>
                <a:cs typeface="Big Shoulders Display Bold"/>
                <a:sym typeface="Big Shoulders Display Bold"/>
              </a:rPr>
              <a:t>Shows the menu options for registration, search, update, delete, filter, dashboard, and exit</a:t>
            </a:r>
            <a:r>
              <a:rPr lang="en-US" sz="3000" spc="153">
                <a:solidFill>
                  <a:srgbClr val="FFFFFF"/>
                </a:solidFill>
                <a:latin typeface="Big Shoulders Display"/>
                <a:ea typeface="Big Shoulders Display"/>
                <a:cs typeface="Big Shoulders Display"/>
                <a:sym typeface="Big Shoulders Display"/>
              </a:rPr>
              <a:t>.</a:t>
            </a:r>
          </a:p>
          <a:p>
            <a:pPr algn="ctr">
              <a:lnSpc>
                <a:spcPts val="420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5203993" y="884901"/>
            <a:ext cx="11884895" cy="2249424"/>
            <a:chOff x="0" y="0"/>
            <a:chExt cx="15846527" cy="2999232"/>
          </a:xfrm>
        </p:grpSpPr>
        <p:sp>
          <p:nvSpPr>
            <p:cNvPr name="Freeform 4" id="4"/>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5" id="5"/>
            <p:cNvSpPr txBox="true"/>
            <p:nvPr/>
          </p:nvSpPr>
          <p:spPr>
            <a:xfrm>
              <a:off x="0" y="152400"/>
              <a:ext cx="15846527" cy="2846832"/>
            </a:xfrm>
            <a:prstGeom prst="rect">
              <a:avLst/>
            </a:prstGeom>
          </p:spPr>
          <p:txBody>
            <a:bodyPr anchor="ctr" rtlCol="false" tIns="0" lIns="0" bIns="0" rIns="0"/>
            <a:lstStyle/>
            <a:p>
              <a:pPr algn="l">
                <a:lnSpc>
                  <a:spcPts val="7200"/>
                </a:lnSpc>
              </a:pPr>
              <a:r>
                <a:rPr lang="en-US" b="true" sz="7500" spc="164">
                  <a:solidFill>
                    <a:srgbClr val="000000"/>
                  </a:solidFill>
                  <a:latin typeface="Big Shoulders Display Bold"/>
                  <a:ea typeface="Big Shoulders Display Bold"/>
                  <a:cs typeface="Big Shoulders Display Bold"/>
                  <a:sym typeface="Big Shoulders Display Bold"/>
                </a:rPr>
                <a:t>Output Screens</a:t>
              </a:r>
            </a:p>
          </p:txBody>
        </p:sp>
      </p:grpSp>
      <p:grpSp>
        <p:nvGrpSpPr>
          <p:cNvPr name="Group 6" id="6"/>
          <p:cNvGrpSpPr/>
          <p:nvPr/>
        </p:nvGrpSpPr>
        <p:grpSpPr>
          <a:xfrm rot="0">
            <a:off x="712727" y="726948"/>
            <a:ext cx="3193399" cy="8821379"/>
            <a:chOff x="0" y="0"/>
            <a:chExt cx="4257866" cy="11761838"/>
          </a:xfrm>
        </p:grpSpPr>
        <p:sp>
          <p:nvSpPr>
            <p:cNvPr name="Freeform 7" id="7"/>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8" id="8"/>
          <p:cNvSpPr/>
          <p:nvPr/>
        </p:nvSpPr>
        <p:spPr>
          <a:xfrm flipV="true">
            <a:off x="4971139" y="1309524"/>
            <a:ext cx="28572" cy="1400179"/>
          </a:xfrm>
          <a:prstGeom prst="line">
            <a:avLst/>
          </a:prstGeom>
          <a:ln cap="rnd" w="19050">
            <a:solidFill>
              <a:srgbClr val="1CADE4"/>
            </a:solidFill>
            <a:prstDash val="solid"/>
            <a:headEnd type="none" len="sm" w="sm"/>
            <a:tailEnd type="none" len="sm" w="sm"/>
          </a:ln>
        </p:spPr>
      </p:sp>
      <p:grpSp>
        <p:nvGrpSpPr>
          <p:cNvPr name="Group 9" id="9"/>
          <p:cNvGrpSpPr/>
          <p:nvPr/>
        </p:nvGrpSpPr>
        <p:grpSpPr>
          <a:xfrm rot="0">
            <a:off x="849678" y="982247"/>
            <a:ext cx="2816981" cy="704250"/>
            <a:chOff x="0" y="0"/>
            <a:chExt cx="3755974" cy="939000"/>
          </a:xfrm>
        </p:grpSpPr>
        <p:sp>
          <p:nvSpPr>
            <p:cNvPr name="Freeform 10" id="10"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1" id="11"/>
          <p:cNvGrpSpPr/>
          <p:nvPr/>
        </p:nvGrpSpPr>
        <p:grpSpPr>
          <a:xfrm rot="0">
            <a:off x="849678" y="884901"/>
            <a:ext cx="2816981" cy="8419854"/>
            <a:chOff x="0" y="0"/>
            <a:chExt cx="3755974" cy="11226472"/>
          </a:xfrm>
        </p:grpSpPr>
        <p:sp>
          <p:nvSpPr>
            <p:cNvPr name="Freeform 12" id="12"/>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3" id="13"/>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
        <p:nvSpPr>
          <p:cNvPr name="Freeform 14" id="14"/>
          <p:cNvSpPr/>
          <p:nvPr/>
        </p:nvSpPr>
        <p:spPr>
          <a:xfrm flipH="false" flipV="false" rot="0">
            <a:off x="4581233" y="3479257"/>
            <a:ext cx="12128473" cy="3840499"/>
          </a:xfrm>
          <a:custGeom>
            <a:avLst/>
            <a:gdLst/>
            <a:ahLst/>
            <a:cxnLst/>
            <a:rect r="r" b="b" t="t" l="l"/>
            <a:pathLst>
              <a:path h="3840499" w="12128473">
                <a:moveTo>
                  <a:pt x="0" y="0"/>
                </a:moveTo>
                <a:lnTo>
                  <a:pt x="12128473" y="0"/>
                </a:lnTo>
                <a:lnTo>
                  <a:pt x="12128473" y="3840500"/>
                </a:lnTo>
                <a:lnTo>
                  <a:pt x="0" y="3840500"/>
                </a:lnTo>
                <a:lnTo>
                  <a:pt x="0" y="0"/>
                </a:lnTo>
                <a:close/>
              </a:path>
            </a:pathLst>
          </a:custGeom>
          <a:blipFill>
            <a:blip r:embed="rId4"/>
            <a:stretch>
              <a:fillRect l="0" t="0" r="0" b="0"/>
            </a:stretch>
          </a:blipFill>
        </p:spPr>
      </p:sp>
      <p:sp>
        <p:nvSpPr>
          <p:cNvPr name="TextBox 15" id="15"/>
          <p:cNvSpPr txBox="true"/>
          <p:nvPr/>
        </p:nvSpPr>
        <p:spPr>
          <a:xfrm rot="0">
            <a:off x="4581233" y="7714078"/>
            <a:ext cx="12128473" cy="1590675"/>
          </a:xfrm>
          <a:prstGeom prst="rect">
            <a:avLst/>
          </a:prstGeom>
        </p:spPr>
        <p:txBody>
          <a:bodyPr anchor="t" rtlCol="false" tIns="0" lIns="0" bIns="0" rIns="0">
            <a:spAutoFit/>
          </a:bodyPr>
          <a:lstStyle/>
          <a:p>
            <a:pPr algn="ctr">
              <a:lnSpc>
                <a:spcPts val="4200"/>
              </a:lnSpc>
            </a:pPr>
            <a:r>
              <a:rPr lang="en-US" b="true" sz="3000" spc="153">
                <a:solidFill>
                  <a:srgbClr val="000000"/>
                </a:solidFill>
                <a:latin typeface="Big Shoulders Display Bold"/>
                <a:ea typeface="Big Shoulders Display Bold"/>
                <a:cs typeface="Big Shoulders Display Bold"/>
                <a:sym typeface="Big Shoulders Display Bold"/>
              </a:rPr>
              <a:t>Shows the input fields for entering participant details: ID, Name, College, Event, Contact.</a:t>
            </a:r>
          </a:p>
          <a:p>
            <a:pPr algn="ctr">
              <a:lnSpc>
                <a:spcPts val="420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5203993" y="884901"/>
            <a:ext cx="11884895" cy="2249424"/>
            <a:chOff x="0" y="0"/>
            <a:chExt cx="15846527" cy="2999232"/>
          </a:xfrm>
        </p:grpSpPr>
        <p:sp>
          <p:nvSpPr>
            <p:cNvPr name="Freeform 4" id="4"/>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5" id="5"/>
            <p:cNvSpPr txBox="true"/>
            <p:nvPr/>
          </p:nvSpPr>
          <p:spPr>
            <a:xfrm>
              <a:off x="0" y="152400"/>
              <a:ext cx="15846527" cy="2846832"/>
            </a:xfrm>
            <a:prstGeom prst="rect">
              <a:avLst/>
            </a:prstGeom>
          </p:spPr>
          <p:txBody>
            <a:bodyPr anchor="ctr" rtlCol="false" tIns="0" lIns="0" bIns="0" rIns="0"/>
            <a:lstStyle/>
            <a:p>
              <a:pPr algn="l">
                <a:lnSpc>
                  <a:spcPts val="7200"/>
                </a:lnSpc>
              </a:pPr>
              <a:r>
                <a:rPr lang="en-US" b="true" sz="7500" spc="164">
                  <a:solidFill>
                    <a:srgbClr val="000000"/>
                  </a:solidFill>
                  <a:latin typeface="Big Shoulders Display Bold"/>
                  <a:ea typeface="Big Shoulders Display Bold"/>
                  <a:cs typeface="Big Shoulders Display Bold"/>
                  <a:sym typeface="Big Shoulders Display Bold"/>
                </a:rPr>
                <a:t>Output Screens</a:t>
              </a:r>
            </a:p>
          </p:txBody>
        </p:sp>
      </p:grpSp>
      <p:grpSp>
        <p:nvGrpSpPr>
          <p:cNvPr name="Group 6" id="6"/>
          <p:cNvGrpSpPr/>
          <p:nvPr/>
        </p:nvGrpSpPr>
        <p:grpSpPr>
          <a:xfrm rot="0">
            <a:off x="712727" y="726948"/>
            <a:ext cx="3193399" cy="8821379"/>
            <a:chOff x="0" y="0"/>
            <a:chExt cx="4257866" cy="11761838"/>
          </a:xfrm>
        </p:grpSpPr>
        <p:sp>
          <p:nvSpPr>
            <p:cNvPr name="Freeform 7" id="7"/>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8" id="8"/>
          <p:cNvSpPr/>
          <p:nvPr/>
        </p:nvSpPr>
        <p:spPr>
          <a:xfrm flipV="true">
            <a:off x="4971139" y="1309524"/>
            <a:ext cx="28572" cy="1400179"/>
          </a:xfrm>
          <a:prstGeom prst="line">
            <a:avLst/>
          </a:prstGeom>
          <a:ln cap="rnd" w="19050">
            <a:solidFill>
              <a:srgbClr val="1CADE4"/>
            </a:solidFill>
            <a:prstDash val="solid"/>
            <a:headEnd type="none" len="sm" w="sm"/>
            <a:tailEnd type="none" len="sm" w="sm"/>
          </a:ln>
        </p:spPr>
      </p:sp>
      <p:grpSp>
        <p:nvGrpSpPr>
          <p:cNvPr name="Group 9" id="9"/>
          <p:cNvGrpSpPr/>
          <p:nvPr/>
        </p:nvGrpSpPr>
        <p:grpSpPr>
          <a:xfrm rot="0">
            <a:off x="849678" y="982247"/>
            <a:ext cx="2816981" cy="704250"/>
            <a:chOff x="0" y="0"/>
            <a:chExt cx="3755974" cy="939000"/>
          </a:xfrm>
        </p:grpSpPr>
        <p:sp>
          <p:nvSpPr>
            <p:cNvPr name="Freeform 10" id="10"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1" id="11"/>
          <p:cNvGrpSpPr/>
          <p:nvPr/>
        </p:nvGrpSpPr>
        <p:grpSpPr>
          <a:xfrm rot="0">
            <a:off x="849678" y="884901"/>
            <a:ext cx="2816981" cy="8419854"/>
            <a:chOff x="0" y="0"/>
            <a:chExt cx="3755974" cy="11226472"/>
          </a:xfrm>
        </p:grpSpPr>
        <p:sp>
          <p:nvSpPr>
            <p:cNvPr name="Freeform 12" id="12"/>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3" id="13"/>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
        <p:nvSpPr>
          <p:cNvPr name="Freeform 14" id="14"/>
          <p:cNvSpPr/>
          <p:nvPr/>
        </p:nvSpPr>
        <p:spPr>
          <a:xfrm flipH="false" flipV="false" rot="0">
            <a:off x="4581233" y="2935476"/>
            <a:ext cx="12142921" cy="4318704"/>
          </a:xfrm>
          <a:custGeom>
            <a:avLst/>
            <a:gdLst/>
            <a:ahLst/>
            <a:cxnLst/>
            <a:rect r="r" b="b" t="t" l="l"/>
            <a:pathLst>
              <a:path h="4318704" w="12142921">
                <a:moveTo>
                  <a:pt x="0" y="0"/>
                </a:moveTo>
                <a:lnTo>
                  <a:pt x="12142921" y="0"/>
                </a:lnTo>
                <a:lnTo>
                  <a:pt x="12142921" y="4318704"/>
                </a:lnTo>
                <a:lnTo>
                  <a:pt x="0" y="4318704"/>
                </a:lnTo>
                <a:lnTo>
                  <a:pt x="0" y="0"/>
                </a:lnTo>
                <a:close/>
              </a:path>
            </a:pathLst>
          </a:custGeom>
          <a:blipFill>
            <a:blip r:embed="rId4"/>
            <a:stretch>
              <a:fillRect l="0" t="0" r="0" b="0"/>
            </a:stretch>
          </a:blipFill>
        </p:spPr>
      </p:sp>
      <p:sp>
        <p:nvSpPr>
          <p:cNvPr name="TextBox 15" id="15"/>
          <p:cNvSpPr txBox="true"/>
          <p:nvPr/>
        </p:nvSpPr>
        <p:spPr>
          <a:xfrm rot="0">
            <a:off x="4581233" y="7714078"/>
            <a:ext cx="12128473" cy="523875"/>
          </a:xfrm>
          <a:prstGeom prst="rect">
            <a:avLst/>
          </a:prstGeom>
        </p:spPr>
        <p:txBody>
          <a:bodyPr anchor="t" rtlCol="false" tIns="0" lIns="0" bIns="0" rIns="0">
            <a:spAutoFit/>
          </a:bodyPr>
          <a:lstStyle/>
          <a:p>
            <a:pPr algn="ctr">
              <a:lnSpc>
                <a:spcPts val="4200"/>
              </a:lnSpc>
              <a:spcBef>
                <a:spcPct val="0"/>
              </a:spcBef>
            </a:pPr>
            <a:r>
              <a:rPr lang="en-US" b="true" sz="3000" spc="155">
                <a:solidFill>
                  <a:srgbClr val="000000"/>
                </a:solidFill>
                <a:latin typeface="Big Shoulders Display Bold"/>
                <a:ea typeface="Big Shoulders Display Bold"/>
                <a:cs typeface="Big Shoulders Display Bold"/>
                <a:sym typeface="Big Shoulders Display Bold"/>
              </a:rPr>
              <a:t>Shows the registered participants in a table format after registration.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5203993" y="726948"/>
            <a:ext cx="11884895" cy="2249424"/>
            <a:chOff x="0" y="0"/>
            <a:chExt cx="15846527" cy="2999232"/>
          </a:xfrm>
        </p:grpSpPr>
        <p:sp>
          <p:nvSpPr>
            <p:cNvPr name="Freeform 4" id="4"/>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5" id="5"/>
            <p:cNvSpPr txBox="true"/>
            <p:nvPr/>
          </p:nvSpPr>
          <p:spPr>
            <a:xfrm>
              <a:off x="0" y="152400"/>
              <a:ext cx="15846527" cy="2846832"/>
            </a:xfrm>
            <a:prstGeom prst="rect">
              <a:avLst/>
            </a:prstGeom>
          </p:spPr>
          <p:txBody>
            <a:bodyPr anchor="ctr" rtlCol="false" tIns="0" lIns="0" bIns="0" rIns="0"/>
            <a:lstStyle/>
            <a:p>
              <a:pPr algn="l">
                <a:lnSpc>
                  <a:spcPts val="7200"/>
                </a:lnSpc>
              </a:pPr>
              <a:r>
                <a:rPr lang="en-US" b="true" sz="7500" spc="164">
                  <a:solidFill>
                    <a:srgbClr val="000000"/>
                  </a:solidFill>
                  <a:latin typeface="Big Shoulders Display Bold"/>
                  <a:ea typeface="Big Shoulders Display Bold"/>
                  <a:cs typeface="Big Shoulders Display Bold"/>
                  <a:sym typeface="Big Shoulders Display Bold"/>
                </a:rPr>
                <a:t>Output Screens</a:t>
              </a:r>
            </a:p>
          </p:txBody>
        </p:sp>
      </p:grpSp>
      <p:grpSp>
        <p:nvGrpSpPr>
          <p:cNvPr name="Group 6" id="6"/>
          <p:cNvGrpSpPr/>
          <p:nvPr/>
        </p:nvGrpSpPr>
        <p:grpSpPr>
          <a:xfrm rot="0">
            <a:off x="712727" y="726948"/>
            <a:ext cx="3193399" cy="8821379"/>
            <a:chOff x="0" y="0"/>
            <a:chExt cx="4257866" cy="11761838"/>
          </a:xfrm>
        </p:grpSpPr>
        <p:sp>
          <p:nvSpPr>
            <p:cNvPr name="Freeform 7" id="7"/>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8" id="8"/>
          <p:cNvSpPr/>
          <p:nvPr/>
        </p:nvSpPr>
        <p:spPr>
          <a:xfrm flipV="true">
            <a:off x="4971139" y="1309524"/>
            <a:ext cx="28572" cy="1400179"/>
          </a:xfrm>
          <a:prstGeom prst="line">
            <a:avLst/>
          </a:prstGeom>
          <a:ln cap="rnd" w="19050">
            <a:solidFill>
              <a:srgbClr val="1CADE4"/>
            </a:solidFill>
            <a:prstDash val="solid"/>
            <a:headEnd type="none" len="sm" w="sm"/>
            <a:tailEnd type="none" len="sm" w="sm"/>
          </a:ln>
        </p:spPr>
      </p:sp>
      <p:grpSp>
        <p:nvGrpSpPr>
          <p:cNvPr name="Group 9" id="9"/>
          <p:cNvGrpSpPr/>
          <p:nvPr/>
        </p:nvGrpSpPr>
        <p:grpSpPr>
          <a:xfrm rot="0">
            <a:off x="849678" y="982247"/>
            <a:ext cx="2816981" cy="704250"/>
            <a:chOff x="0" y="0"/>
            <a:chExt cx="3755974" cy="939000"/>
          </a:xfrm>
        </p:grpSpPr>
        <p:sp>
          <p:nvSpPr>
            <p:cNvPr name="Freeform 10" id="10"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1" id="11"/>
          <p:cNvGrpSpPr/>
          <p:nvPr/>
        </p:nvGrpSpPr>
        <p:grpSpPr>
          <a:xfrm rot="0">
            <a:off x="849678" y="884901"/>
            <a:ext cx="2816981" cy="8419854"/>
            <a:chOff x="0" y="0"/>
            <a:chExt cx="3755974" cy="11226472"/>
          </a:xfrm>
        </p:grpSpPr>
        <p:sp>
          <p:nvSpPr>
            <p:cNvPr name="Freeform 12" id="12"/>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3" id="13"/>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
        <p:nvSpPr>
          <p:cNvPr name="Freeform 14" id="14"/>
          <p:cNvSpPr/>
          <p:nvPr/>
        </p:nvSpPr>
        <p:spPr>
          <a:xfrm flipH="false" flipV="false" rot="0">
            <a:off x="7149376" y="2709702"/>
            <a:ext cx="4870377" cy="5110889"/>
          </a:xfrm>
          <a:custGeom>
            <a:avLst/>
            <a:gdLst/>
            <a:ahLst/>
            <a:cxnLst/>
            <a:rect r="r" b="b" t="t" l="l"/>
            <a:pathLst>
              <a:path h="5110889" w="4870377">
                <a:moveTo>
                  <a:pt x="0" y="0"/>
                </a:moveTo>
                <a:lnTo>
                  <a:pt x="4870377" y="0"/>
                </a:lnTo>
                <a:lnTo>
                  <a:pt x="4870377" y="5110890"/>
                </a:lnTo>
                <a:lnTo>
                  <a:pt x="0" y="5110890"/>
                </a:lnTo>
                <a:lnTo>
                  <a:pt x="0" y="0"/>
                </a:lnTo>
                <a:close/>
              </a:path>
            </a:pathLst>
          </a:custGeom>
          <a:blipFill>
            <a:blip r:embed="rId4"/>
            <a:stretch>
              <a:fillRect l="0" t="0" r="0" b="0"/>
            </a:stretch>
          </a:blipFill>
        </p:spPr>
      </p:sp>
      <p:sp>
        <p:nvSpPr>
          <p:cNvPr name="TextBox 15" id="15"/>
          <p:cNvSpPr txBox="true"/>
          <p:nvPr/>
        </p:nvSpPr>
        <p:spPr>
          <a:xfrm rot="0">
            <a:off x="3906126" y="8201025"/>
            <a:ext cx="12128473" cy="1057275"/>
          </a:xfrm>
          <a:prstGeom prst="rect">
            <a:avLst/>
          </a:prstGeom>
        </p:spPr>
        <p:txBody>
          <a:bodyPr anchor="t" rtlCol="false" tIns="0" lIns="0" bIns="0" rIns="0">
            <a:spAutoFit/>
          </a:bodyPr>
          <a:lstStyle/>
          <a:p>
            <a:pPr algn="ctr">
              <a:lnSpc>
                <a:spcPts val="4200"/>
              </a:lnSpc>
            </a:pPr>
            <a:r>
              <a:rPr lang="en-US" b="true" sz="3000" spc="153">
                <a:solidFill>
                  <a:srgbClr val="000000"/>
                </a:solidFill>
                <a:latin typeface="Big Shoulders Display Bold"/>
                <a:ea typeface="Big Shoulders Display Bold"/>
                <a:cs typeface="Big Shoulders Display Bold"/>
                <a:sym typeface="Big Shoulders Display Bold"/>
              </a:rPr>
              <a:t>Shows the participant statistics for all events.</a:t>
            </a:r>
          </a:p>
          <a:p>
            <a:pPr algn="ctr">
              <a:lnSpc>
                <a:spcPts val="4200"/>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15912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5203993" y="1182624"/>
            <a:ext cx="11884895" cy="2249424"/>
            <a:chOff x="0" y="0"/>
            <a:chExt cx="15846527" cy="2999232"/>
          </a:xfrm>
        </p:grpSpPr>
        <p:sp>
          <p:nvSpPr>
            <p:cNvPr name="Freeform 8" id="8"/>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9" id="9"/>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Results &amp; Discussion</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rot="-5329860">
            <a:off x="4110561" y="2220563"/>
            <a:ext cx="1400470"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498979" y="3451098"/>
            <a:ext cx="11793455" cy="5476494"/>
          </a:xfrm>
          <a:prstGeom prst="rect">
            <a:avLst/>
          </a:prstGeom>
        </p:spPr>
        <p:txBody>
          <a:bodyPr anchor="t" rtlCol="false" tIns="0" lIns="0" bIns="0" rIns="0">
            <a:spAutoFit/>
          </a:bodyPr>
          <a:lstStyle/>
          <a:p>
            <a:pPr algn="l">
              <a:lnSpc>
                <a:spcPts val="3347"/>
              </a:lnSpc>
            </a:pPr>
            <a:r>
              <a:rPr lang="en-US" sz="3099">
                <a:solidFill>
                  <a:srgbClr val="FFFFFF"/>
                </a:solidFill>
                <a:latin typeface="Arimo"/>
                <a:ea typeface="Arimo"/>
                <a:cs typeface="Arimo"/>
                <a:sym typeface="Arimo"/>
              </a:rPr>
              <a:t>• The system successfully registers participants, stores data, and generates accurate participant details as output.</a:t>
            </a:r>
          </a:p>
          <a:p>
            <a:pPr algn="l">
              <a:lnSpc>
                <a:spcPts val="3347"/>
              </a:lnSpc>
            </a:pPr>
          </a:p>
          <a:p>
            <a:pPr algn="l">
              <a:lnSpc>
                <a:spcPts val="3347"/>
              </a:lnSpc>
            </a:pPr>
            <a:r>
              <a:rPr lang="en-US" sz="3099">
                <a:solidFill>
                  <a:srgbClr val="FFFFFF"/>
                </a:solidFill>
                <a:latin typeface="Arimo"/>
                <a:ea typeface="Arimo"/>
                <a:cs typeface="Arimo"/>
                <a:sym typeface="Arimo"/>
              </a:rPr>
              <a:t>• The results obtained match the expected outcomes, ensuring correct data storage, retrieval, and display.</a:t>
            </a:r>
          </a:p>
          <a:p>
            <a:pPr algn="l">
              <a:lnSpc>
                <a:spcPts val="3347"/>
              </a:lnSpc>
            </a:pPr>
          </a:p>
          <a:p>
            <a:pPr algn="l">
              <a:lnSpc>
                <a:spcPts val="3347"/>
              </a:lnSpc>
            </a:pPr>
            <a:r>
              <a:rPr lang="en-US" sz="3099">
                <a:solidFill>
                  <a:srgbClr val="FFFFFF"/>
                </a:solidFill>
                <a:latin typeface="Arimo"/>
                <a:ea typeface="Arimo"/>
                <a:cs typeface="Arimo"/>
                <a:sym typeface="Arimo"/>
              </a:rPr>
              <a:t>• The system shows good accuracy and performance with fast data processing and minimal errors.</a:t>
            </a:r>
          </a:p>
          <a:p>
            <a:pPr algn="l">
              <a:lnSpc>
                <a:spcPts val="3347"/>
              </a:lnSpc>
            </a:pPr>
          </a:p>
          <a:p>
            <a:pPr algn="l">
              <a:lnSpc>
                <a:spcPts val="3347"/>
              </a:lnSpc>
            </a:pPr>
            <a:r>
              <a:rPr lang="en-US" sz="3099">
                <a:solidFill>
                  <a:srgbClr val="FFFFFF"/>
                </a:solidFill>
                <a:latin typeface="Arimo"/>
                <a:ea typeface="Arimo"/>
                <a:cs typeface="Arimo"/>
                <a:sym typeface="Arimo"/>
              </a:rPr>
              <a:t>• Some challenges like handling duplicate entries and managing file operations were faced and resolved using proper validation and error handling techniques.</a:t>
            </a:r>
          </a:p>
          <a:p>
            <a:pPr algn="l">
              <a:lnSpc>
                <a:spcPts val="3347"/>
              </a:lnSpc>
            </a:pP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2"/>
            <a:chOff x="0" y="0"/>
            <a:chExt cx="3755974" cy="11226470"/>
          </a:xfrm>
        </p:grpSpPr>
        <p:sp>
          <p:nvSpPr>
            <p:cNvPr name="Freeform 17" id="17"/>
            <p:cNvSpPr/>
            <p:nvPr/>
          </p:nvSpPr>
          <p:spPr>
            <a:xfrm flipH="false" flipV="false" rot="0">
              <a:off x="0" y="0"/>
              <a:ext cx="3755980" cy="11226472"/>
            </a:xfrm>
            <a:custGeom>
              <a:avLst/>
              <a:gdLst/>
              <a:ahLst/>
              <a:cxnLst/>
              <a:rect r="r" b="b" t="t" l="l"/>
              <a:pathLst>
                <a:path h="11226472" w="3755980">
                  <a:moveTo>
                    <a:pt x="0" y="0"/>
                  </a:moveTo>
                  <a:lnTo>
                    <a:pt x="3755980" y="0"/>
                  </a:lnTo>
                  <a:lnTo>
                    <a:pt x="3755980" y="11226472"/>
                  </a:lnTo>
                  <a:lnTo>
                    <a:pt x="0" y="11226472"/>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5"/>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C Programming Project Presentation</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15912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5203993" y="1182624"/>
            <a:ext cx="11884895" cy="2249424"/>
            <a:chOff x="0" y="0"/>
            <a:chExt cx="15846527" cy="2999232"/>
          </a:xfrm>
        </p:grpSpPr>
        <p:sp>
          <p:nvSpPr>
            <p:cNvPr name="Freeform 8" id="8"/>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9" id="9"/>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Conclusion &amp; Future Enhancement</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rot="-5329860">
            <a:off x="4110561" y="2220563"/>
            <a:ext cx="1400470"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796511" y="3099181"/>
            <a:ext cx="11793455" cy="5158740"/>
          </a:xfrm>
          <a:prstGeom prst="rect">
            <a:avLst/>
          </a:prstGeom>
        </p:spPr>
        <p:txBody>
          <a:bodyPr anchor="t" rtlCol="false" tIns="0" lIns="0" bIns="0" rIns="0">
            <a:spAutoFit/>
          </a:bodyPr>
          <a:lstStyle/>
          <a:p>
            <a:pPr algn="l">
              <a:lnSpc>
                <a:spcPts val="2430"/>
              </a:lnSpc>
            </a:pPr>
          </a:p>
          <a:p>
            <a:pPr algn="l">
              <a:lnSpc>
                <a:spcPts val="3293"/>
              </a:lnSpc>
            </a:pPr>
            <a:r>
              <a:rPr lang="en-US" sz="304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Conclusion:</a:t>
            </a:r>
          </a:p>
          <a:p>
            <a:pPr algn="l">
              <a:lnSpc>
                <a:spcPts val="3293"/>
              </a:lnSpc>
            </a:pPr>
            <a:r>
              <a:rPr lang="en-US" sz="3049">
                <a:solidFill>
                  <a:srgbClr val="FFFFFF"/>
                </a:solidFill>
                <a:latin typeface="Arimo"/>
                <a:ea typeface="Arimo"/>
                <a:cs typeface="Arimo"/>
                <a:sym typeface="Arimo"/>
              </a:rPr>
              <a:t>• The project successfully achieved its objectives by automating event registration and participant management</a:t>
            </a:r>
          </a:p>
          <a:p>
            <a:pPr algn="l">
              <a:lnSpc>
                <a:spcPts val="3293"/>
              </a:lnSpc>
            </a:pPr>
            <a:r>
              <a:rPr lang="en-US" sz="3049">
                <a:solidFill>
                  <a:srgbClr val="FFFFFF"/>
                </a:solidFill>
                <a:latin typeface="Arimo"/>
                <a:ea typeface="Arimo"/>
                <a:cs typeface="Arimo"/>
                <a:sym typeface="Arimo"/>
              </a:rPr>
              <a:t> • Improved understanding of Java programming concepts and system design</a:t>
            </a:r>
          </a:p>
          <a:p>
            <a:pPr algn="l">
              <a:lnSpc>
                <a:spcPts val="3293"/>
              </a:lnSpc>
            </a:pPr>
          </a:p>
          <a:p>
            <a:pPr algn="l">
              <a:lnSpc>
                <a:spcPts val="3401"/>
              </a:lnSpc>
            </a:pPr>
            <a:r>
              <a:rPr lang="en-US" sz="314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Future Enhancements:</a:t>
            </a:r>
          </a:p>
          <a:p>
            <a:pPr algn="l">
              <a:lnSpc>
                <a:spcPts val="3293"/>
              </a:lnSpc>
            </a:pPr>
            <a:r>
              <a:rPr lang="en-US" sz="3049">
                <a:solidFill>
                  <a:srgbClr val="FFFFFF"/>
                </a:solidFill>
                <a:latin typeface="Arimo"/>
                <a:ea typeface="Arimo"/>
                <a:cs typeface="Arimo"/>
                <a:sym typeface="Arimo"/>
              </a:rPr>
              <a:t>• Add GUI using Java Swing for better user interaction</a:t>
            </a:r>
          </a:p>
          <a:p>
            <a:pPr algn="l">
              <a:lnSpc>
                <a:spcPts val="3293"/>
              </a:lnSpc>
            </a:pPr>
            <a:r>
              <a:rPr lang="en-US" sz="3049">
                <a:solidFill>
                  <a:srgbClr val="FFFFFF"/>
                </a:solidFill>
                <a:latin typeface="Arimo"/>
                <a:ea typeface="Arimo"/>
                <a:cs typeface="Arimo"/>
                <a:sym typeface="Arimo"/>
              </a:rPr>
              <a:t> • Integrate with a database for efficient data storage</a:t>
            </a:r>
          </a:p>
          <a:p>
            <a:pPr algn="l">
              <a:lnSpc>
                <a:spcPts val="3293"/>
              </a:lnSpc>
            </a:pPr>
            <a:r>
              <a:rPr lang="en-US" sz="3049">
                <a:solidFill>
                  <a:srgbClr val="FFFFFF"/>
                </a:solidFill>
                <a:latin typeface="Arimo"/>
                <a:ea typeface="Arimo"/>
                <a:cs typeface="Arimo"/>
                <a:sym typeface="Arimo"/>
              </a:rPr>
              <a:t> • Extend features for handling large-scale events and online registrations</a:t>
            </a:r>
          </a:p>
          <a:p>
            <a:pPr algn="l">
              <a:lnSpc>
                <a:spcPts val="2430"/>
              </a:lnSpc>
            </a:pP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4"/>
            <a:chOff x="0" y="0"/>
            <a:chExt cx="3755974" cy="11226472"/>
          </a:xfrm>
        </p:grpSpPr>
        <p:sp>
          <p:nvSpPr>
            <p:cNvPr name="Freeform 17" id="17"/>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159120" y="726948"/>
            <a:ext cx="13422220" cy="8821379"/>
            <a:chOff x="0" y="0"/>
            <a:chExt cx="17896294" cy="11761838"/>
          </a:xfrm>
        </p:grpSpPr>
        <p:sp>
          <p:nvSpPr>
            <p:cNvPr name="Freeform 6" id="6"/>
            <p:cNvSpPr/>
            <p:nvPr/>
          </p:nvSpPr>
          <p:spPr>
            <a:xfrm flipH="false" flipV="false" rot="0">
              <a:off x="0" y="0"/>
              <a:ext cx="17896332" cy="11761851"/>
            </a:xfrm>
            <a:custGeom>
              <a:avLst/>
              <a:gdLst/>
              <a:ahLst/>
              <a:cxnLst/>
              <a:rect r="r" b="b" t="t" l="l"/>
              <a:pathLst>
                <a:path h="11761851" w="17896332">
                  <a:moveTo>
                    <a:pt x="0" y="0"/>
                  </a:moveTo>
                  <a:lnTo>
                    <a:pt x="17896332" y="0"/>
                  </a:lnTo>
                  <a:lnTo>
                    <a:pt x="17896332" y="11761851"/>
                  </a:lnTo>
                  <a:lnTo>
                    <a:pt x="0" y="11761851"/>
                  </a:lnTo>
                  <a:close/>
                </a:path>
              </a:pathLst>
            </a:custGeom>
            <a:solidFill>
              <a:srgbClr val="404040"/>
            </a:solidFill>
          </p:spPr>
        </p:sp>
      </p:grpSp>
      <p:grpSp>
        <p:nvGrpSpPr>
          <p:cNvPr name="Group 7" id="7"/>
          <p:cNvGrpSpPr/>
          <p:nvPr/>
        </p:nvGrpSpPr>
        <p:grpSpPr>
          <a:xfrm rot="0">
            <a:off x="5203993" y="1182624"/>
            <a:ext cx="11884895" cy="2249424"/>
            <a:chOff x="0" y="0"/>
            <a:chExt cx="15846527" cy="2999232"/>
          </a:xfrm>
        </p:grpSpPr>
        <p:sp>
          <p:nvSpPr>
            <p:cNvPr name="Freeform 8" id="8"/>
            <p:cNvSpPr/>
            <p:nvPr/>
          </p:nvSpPr>
          <p:spPr>
            <a:xfrm flipH="false" flipV="false" rot="0">
              <a:off x="0" y="0"/>
              <a:ext cx="15846529" cy="2999232"/>
            </a:xfrm>
            <a:custGeom>
              <a:avLst/>
              <a:gdLst/>
              <a:ahLst/>
              <a:cxnLst/>
              <a:rect r="r" b="b" t="t" l="l"/>
              <a:pathLst>
                <a:path h="2999232" w="15846529">
                  <a:moveTo>
                    <a:pt x="0" y="0"/>
                  </a:moveTo>
                  <a:lnTo>
                    <a:pt x="15846529" y="0"/>
                  </a:lnTo>
                  <a:lnTo>
                    <a:pt x="15846529" y="2999232"/>
                  </a:lnTo>
                  <a:lnTo>
                    <a:pt x="0" y="2999232"/>
                  </a:lnTo>
                  <a:close/>
                </a:path>
              </a:pathLst>
            </a:custGeom>
            <a:blipFill>
              <a:blip r:embed="rId2">
                <a:alphaModFix amt="0"/>
              </a:blip>
              <a:stretch>
                <a:fillRect l="0" t="-52949" r="0" b="-52949"/>
              </a:stretch>
            </a:blipFill>
          </p:spPr>
        </p:sp>
        <p:sp>
          <p:nvSpPr>
            <p:cNvPr name="TextBox 9" id="9"/>
            <p:cNvSpPr txBox="true"/>
            <p:nvPr/>
          </p:nvSpPr>
          <p:spPr>
            <a:xfrm>
              <a:off x="0" y="152400"/>
              <a:ext cx="15846527"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References / Acknowledgement</a:t>
              </a:r>
            </a:p>
          </p:txBody>
        </p:sp>
      </p:grpSp>
      <p:grpSp>
        <p:nvGrpSpPr>
          <p:cNvPr name="Group 10" id="10"/>
          <p:cNvGrpSpPr/>
          <p:nvPr/>
        </p:nvGrpSpPr>
        <p:grpSpPr>
          <a:xfrm rot="0">
            <a:off x="712727" y="726948"/>
            <a:ext cx="3193399" cy="8821379"/>
            <a:chOff x="0" y="0"/>
            <a:chExt cx="4257866" cy="11761838"/>
          </a:xfrm>
        </p:grpSpPr>
        <p:sp>
          <p:nvSpPr>
            <p:cNvPr name="Freeform 11" id="11"/>
            <p:cNvSpPr/>
            <p:nvPr/>
          </p:nvSpPr>
          <p:spPr>
            <a:xfrm flipH="false" flipV="false" rot="0">
              <a:off x="0" y="0"/>
              <a:ext cx="4257929" cy="11761851"/>
            </a:xfrm>
            <a:custGeom>
              <a:avLst/>
              <a:gdLst/>
              <a:ahLst/>
              <a:cxnLst/>
              <a:rect r="r" b="b" t="t" l="l"/>
              <a:pathLst>
                <a:path h="11761851" w="4257929">
                  <a:moveTo>
                    <a:pt x="0" y="0"/>
                  </a:moveTo>
                  <a:lnTo>
                    <a:pt x="4257929" y="0"/>
                  </a:lnTo>
                  <a:lnTo>
                    <a:pt x="4257929" y="11761851"/>
                  </a:lnTo>
                  <a:lnTo>
                    <a:pt x="0" y="11761851"/>
                  </a:lnTo>
                  <a:close/>
                </a:path>
              </a:pathLst>
            </a:custGeom>
            <a:solidFill>
              <a:srgbClr val="1CADE4"/>
            </a:solidFill>
          </p:spPr>
        </p:sp>
      </p:grpSp>
      <p:sp>
        <p:nvSpPr>
          <p:cNvPr name="AutoShape 12" id="12"/>
          <p:cNvSpPr/>
          <p:nvPr/>
        </p:nvSpPr>
        <p:spPr>
          <a:xfrm rot="-5329860">
            <a:off x="4110561" y="2220563"/>
            <a:ext cx="1400470"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539559" y="3139761"/>
            <a:ext cx="11793455" cy="5860923"/>
          </a:xfrm>
          <a:prstGeom prst="rect">
            <a:avLst/>
          </a:prstGeom>
        </p:spPr>
        <p:txBody>
          <a:bodyPr anchor="t" rtlCol="false" tIns="0" lIns="0" bIns="0" rIns="0">
            <a:spAutoFit/>
          </a:bodyPr>
          <a:lstStyle/>
          <a:p>
            <a:pPr algn="l">
              <a:lnSpc>
                <a:spcPts val="2916"/>
              </a:lnSpc>
            </a:pPr>
          </a:p>
          <a:p>
            <a:pPr algn="l">
              <a:lnSpc>
                <a:spcPts val="3023"/>
              </a:lnSpc>
            </a:pPr>
            <a:r>
              <a:rPr lang="en-US" sz="2799">
                <a:solidFill>
                  <a:srgbClr val="FFFFFF"/>
                </a:solidFill>
                <a:latin typeface="Arimo"/>
                <a:ea typeface="Arimo"/>
                <a:cs typeface="Arimo"/>
                <a:sym typeface="Arimo"/>
              </a:rPr>
              <a:t> </a:t>
            </a:r>
            <a:r>
              <a:rPr lang="en-US" sz="279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References:</a:t>
            </a:r>
          </a:p>
          <a:p>
            <a:pPr algn="l" marL="582930" indent="-291465" lvl="1">
              <a:lnSpc>
                <a:spcPts val="2916"/>
              </a:lnSpc>
              <a:buFont typeface="Arial"/>
              <a:buChar char="•"/>
            </a:pPr>
            <a:r>
              <a:rPr lang="en-US" sz="2700">
                <a:solidFill>
                  <a:srgbClr val="FFFFFF"/>
                </a:solidFill>
                <a:latin typeface="Arimo"/>
                <a:ea typeface="Arimo"/>
                <a:cs typeface="Arimo"/>
                <a:sym typeface="Arimo"/>
              </a:rPr>
              <a:t>Herbert Schildt – Java: The Complete Reference</a:t>
            </a:r>
          </a:p>
          <a:p>
            <a:pPr algn="l" marL="582930" indent="-291465" lvl="1">
              <a:lnSpc>
                <a:spcPts val="2916"/>
              </a:lnSpc>
              <a:buFont typeface="Arial"/>
              <a:buChar char="•"/>
            </a:pPr>
            <a:r>
              <a:rPr lang="en-US" sz="2700">
                <a:solidFill>
                  <a:srgbClr val="FFFFFF"/>
                </a:solidFill>
                <a:latin typeface="Arimo"/>
                <a:ea typeface="Arimo"/>
                <a:cs typeface="Arimo"/>
                <a:sym typeface="Arimo"/>
              </a:rPr>
              <a:t> E. Balagurusamy – Programming with Java</a:t>
            </a:r>
          </a:p>
          <a:p>
            <a:pPr algn="l" marL="582930" indent="-291465" lvl="1">
              <a:lnSpc>
                <a:spcPts val="2916"/>
              </a:lnSpc>
              <a:buFont typeface="Arial"/>
              <a:buChar char="•"/>
            </a:pPr>
            <a:r>
              <a:rPr lang="en-US" sz="2700">
                <a:solidFill>
                  <a:srgbClr val="FFFFFF"/>
                </a:solidFill>
                <a:latin typeface="Arimo"/>
                <a:ea typeface="Arimo"/>
                <a:cs typeface="Arimo"/>
                <a:sym typeface="Arimo"/>
              </a:rPr>
              <a:t>TutorialsPoint &amp; GeeksforGeeks (for code logic and examples)</a:t>
            </a:r>
          </a:p>
          <a:p>
            <a:pPr algn="l" marL="582930" indent="-291465" lvl="1">
              <a:lnSpc>
                <a:spcPts val="2916"/>
              </a:lnSpc>
              <a:buFont typeface="Arial"/>
              <a:buChar char="•"/>
            </a:pPr>
            <a:r>
              <a:rPr lang="en-US" sz="2700">
                <a:solidFill>
                  <a:srgbClr val="FFFFFF"/>
                </a:solidFill>
                <a:latin typeface="Arimo"/>
                <a:ea typeface="Arimo"/>
                <a:cs typeface="Arimo"/>
                <a:sym typeface="Arimo"/>
              </a:rPr>
              <a:t>Academic project materials and classroom notes</a:t>
            </a:r>
          </a:p>
          <a:p>
            <a:pPr algn="l">
              <a:lnSpc>
                <a:spcPts val="2916"/>
              </a:lnSpc>
            </a:pPr>
          </a:p>
          <a:p>
            <a:pPr algn="l">
              <a:lnSpc>
                <a:spcPts val="3023"/>
              </a:lnSpc>
            </a:pPr>
            <a:r>
              <a:rPr lang="en-US" sz="2799" b="true">
                <a:gradFill>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a:latin typeface="Arimo Bold"/>
                <a:ea typeface="Arimo Bold"/>
                <a:cs typeface="Arimo Bold"/>
                <a:sym typeface="Arimo Bold"/>
              </a:rPr>
              <a:t>Acknowledgement:</a:t>
            </a:r>
          </a:p>
          <a:p>
            <a:pPr algn="l">
              <a:lnSpc>
                <a:spcPts val="2916"/>
              </a:lnSpc>
            </a:pPr>
            <a:r>
              <a:rPr lang="en-US" sz="2700">
                <a:solidFill>
                  <a:srgbClr val="FFFFFF"/>
                </a:solidFill>
                <a:latin typeface="Arimo"/>
                <a:ea typeface="Arimo"/>
                <a:cs typeface="Arimo"/>
                <a:sym typeface="Arimo"/>
              </a:rPr>
              <a:t>                </a:t>
            </a:r>
            <a:r>
              <a:rPr lang="en-US" sz="2700">
                <a:solidFill>
                  <a:srgbClr val="FFFFFF"/>
                </a:solidFill>
                <a:latin typeface="Arimo"/>
                <a:ea typeface="Arimo"/>
                <a:cs typeface="Arimo"/>
                <a:sym typeface="Arimo"/>
              </a:rPr>
              <a:t>We sincerely thank our project guide, faculty members, and institution for their valuable guidance and support throughout the development of the Simple Payroll Slip Generator.We also acknowledge the contributions of our team members for their dedication and teamwork in successfully completing this project.</a:t>
            </a:r>
          </a:p>
          <a:p>
            <a:pPr algn="l">
              <a:lnSpc>
                <a:spcPts val="2916"/>
              </a:lnSpc>
            </a:pPr>
          </a:p>
          <a:p>
            <a:pPr algn="l">
              <a:lnSpc>
                <a:spcPts val="2916"/>
              </a:lnSpc>
            </a:pPr>
          </a:p>
          <a:p>
            <a:pPr algn="l">
              <a:lnSpc>
                <a:spcPts val="2916"/>
              </a:lnSpc>
            </a:pPr>
          </a:p>
        </p:txBody>
      </p:sp>
      <p:grpSp>
        <p:nvGrpSpPr>
          <p:cNvPr name="Group 14" id="14"/>
          <p:cNvGrpSpPr/>
          <p:nvPr/>
        </p:nvGrpSpPr>
        <p:grpSpPr>
          <a:xfrm rot="0">
            <a:off x="849678" y="982247"/>
            <a:ext cx="2816981" cy="704250"/>
            <a:chOff x="0" y="0"/>
            <a:chExt cx="3755974" cy="939000"/>
          </a:xfrm>
        </p:grpSpPr>
        <p:sp>
          <p:nvSpPr>
            <p:cNvPr name="Freeform 15" id="15" descr="A blue and red logo  AI-generated content may be incorrect."/>
            <p:cNvSpPr/>
            <p:nvPr/>
          </p:nvSpPr>
          <p:spPr>
            <a:xfrm flipH="false" flipV="false" rot="0">
              <a:off x="0" y="0"/>
              <a:ext cx="3756025" cy="939038"/>
            </a:xfrm>
            <a:custGeom>
              <a:avLst/>
              <a:gdLst/>
              <a:ahLst/>
              <a:cxnLst/>
              <a:rect r="r" b="b" t="t" l="l"/>
              <a:pathLst>
                <a:path h="939038" w="3756025">
                  <a:moveTo>
                    <a:pt x="0" y="0"/>
                  </a:moveTo>
                  <a:lnTo>
                    <a:pt x="3756025" y="0"/>
                  </a:lnTo>
                  <a:lnTo>
                    <a:pt x="3756025" y="939038"/>
                  </a:lnTo>
                  <a:lnTo>
                    <a:pt x="0" y="939038"/>
                  </a:lnTo>
                  <a:lnTo>
                    <a:pt x="0" y="0"/>
                  </a:lnTo>
                  <a:close/>
                </a:path>
              </a:pathLst>
            </a:custGeom>
            <a:blipFill>
              <a:blip r:embed="rId3"/>
              <a:stretch>
                <a:fillRect l="0" t="0" r="1" b="4"/>
              </a:stretch>
            </a:blipFill>
          </p:spPr>
        </p:sp>
      </p:grpSp>
      <p:grpSp>
        <p:nvGrpSpPr>
          <p:cNvPr name="Group 16" id="16"/>
          <p:cNvGrpSpPr/>
          <p:nvPr/>
        </p:nvGrpSpPr>
        <p:grpSpPr>
          <a:xfrm rot="0">
            <a:off x="849678" y="884901"/>
            <a:ext cx="2816981" cy="8419854"/>
            <a:chOff x="0" y="0"/>
            <a:chExt cx="3755974" cy="11226472"/>
          </a:xfrm>
        </p:grpSpPr>
        <p:sp>
          <p:nvSpPr>
            <p:cNvPr name="Freeform 17" id="17"/>
            <p:cNvSpPr/>
            <p:nvPr/>
          </p:nvSpPr>
          <p:spPr>
            <a:xfrm flipH="false" flipV="false" rot="0">
              <a:off x="0" y="0"/>
              <a:ext cx="3755980" cy="11226474"/>
            </a:xfrm>
            <a:custGeom>
              <a:avLst/>
              <a:gdLst/>
              <a:ahLst/>
              <a:cxnLst/>
              <a:rect r="r" b="b" t="t" l="l"/>
              <a:pathLst>
                <a:path h="11226474" w="3755980">
                  <a:moveTo>
                    <a:pt x="0" y="0"/>
                  </a:moveTo>
                  <a:lnTo>
                    <a:pt x="3755980" y="0"/>
                  </a:lnTo>
                  <a:lnTo>
                    <a:pt x="3755980" y="11226474"/>
                  </a:lnTo>
                  <a:lnTo>
                    <a:pt x="0" y="11226474"/>
                  </a:lnTo>
                  <a:close/>
                </a:path>
              </a:pathLst>
            </a:custGeom>
            <a:blipFill>
              <a:blip r:embed="rId2">
                <a:alphaModFix amt="0"/>
              </a:blip>
              <a:stretch>
                <a:fillRect l="-333494" t="0" r="-333494" b="0"/>
              </a:stretch>
            </a:blipFill>
          </p:spPr>
        </p:sp>
        <p:sp>
          <p:nvSpPr>
            <p:cNvPr name="TextBox 18" id="18"/>
            <p:cNvSpPr txBox="true"/>
            <p:nvPr/>
          </p:nvSpPr>
          <p:spPr>
            <a:xfrm>
              <a:off x="0" y="66675"/>
              <a:ext cx="3755974" cy="11159797"/>
            </a:xfrm>
            <a:prstGeom prst="rect">
              <a:avLst/>
            </a:prstGeom>
          </p:spPr>
          <p:txBody>
            <a:bodyPr anchor="ctr" rtlCol="false" tIns="0" lIns="0" bIns="0" rIns="0"/>
            <a:lstStyle/>
            <a:p>
              <a:pPr algn="l">
                <a:lnSpc>
                  <a:spcPts val="2879"/>
                </a:lnSpc>
              </a:pPr>
              <a:r>
                <a:rPr lang="en-US" sz="3000" spc="155">
                  <a:solidFill>
                    <a:srgbClr val="FFFFFF"/>
                  </a:solidFill>
                  <a:latin typeface="Big Shoulders Display"/>
                  <a:ea typeface="Big Shoulders Display"/>
                  <a:cs typeface="Big Shoulders Display"/>
                  <a:sym typeface="Big Shoulders Display"/>
                </a:rPr>
                <a:t>Java </a:t>
              </a:r>
              <a:r>
                <a:rPr lang="en-US" sz="3000" spc="155">
                  <a:solidFill>
                    <a:srgbClr val="FFFFFF"/>
                  </a:solidFill>
                  <a:latin typeface="Big Shoulders Display"/>
                  <a:ea typeface="Big Shoulders Display"/>
                  <a:cs typeface="Big Shoulders Display"/>
                  <a:sym typeface="Big Shoulders Display"/>
                </a:rPr>
                <a:t>Programming Project Presentation</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9860">
            <a:off x="442770" y="1915763"/>
            <a:ext cx="1400470"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5" id="5"/>
          <p:cNvGrpSpPr/>
          <p:nvPr/>
        </p:nvGrpSpPr>
        <p:grpSpPr>
          <a:xfrm rot="0">
            <a:off x="491319" y="482594"/>
            <a:ext cx="17326785" cy="9321803"/>
            <a:chOff x="0" y="0"/>
            <a:chExt cx="23102380" cy="12429071"/>
          </a:xfrm>
        </p:grpSpPr>
        <p:sp>
          <p:nvSpPr>
            <p:cNvPr name="Freeform 6" id="6"/>
            <p:cNvSpPr/>
            <p:nvPr/>
          </p:nvSpPr>
          <p:spPr>
            <a:xfrm flipH="false" flipV="false" rot="0">
              <a:off x="0" y="0"/>
              <a:ext cx="23102315" cy="12429109"/>
            </a:xfrm>
            <a:custGeom>
              <a:avLst/>
              <a:gdLst/>
              <a:ahLst/>
              <a:cxnLst/>
              <a:rect r="r" b="b" t="t" l="l"/>
              <a:pathLst>
                <a:path h="12429109" w="23102315">
                  <a:moveTo>
                    <a:pt x="0" y="0"/>
                  </a:moveTo>
                  <a:lnTo>
                    <a:pt x="23102315" y="0"/>
                  </a:lnTo>
                  <a:lnTo>
                    <a:pt x="23102315" y="12429109"/>
                  </a:lnTo>
                  <a:lnTo>
                    <a:pt x="0" y="12429109"/>
                  </a:lnTo>
                  <a:close/>
                </a:path>
              </a:pathLst>
            </a:custGeom>
            <a:solidFill>
              <a:srgbClr val="1CADE4"/>
            </a:solidFill>
          </p:spPr>
        </p:sp>
      </p:grpSp>
      <p:grpSp>
        <p:nvGrpSpPr>
          <p:cNvPr name="Group 7" id="7"/>
          <p:cNvGrpSpPr/>
          <p:nvPr/>
        </p:nvGrpSpPr>
        <p:grpSpPr>
          <a:xfrm rot="0">
            <a:off x="1536192" y="877824"/>
            <a:ext cx="15494508" cy="2249424"/>
            <a:chOff x="0" y="0"/>
            <a:chExt cx="20659344" cy="2999232"/>
          </a:xfrm>
        </p:grpSpPr>
        <p:sp>
          <p:nvSpPr>
            <p:cNvPr name="Freeform 8" id="8"/>
            <p:cNvSpPr/>
            <p:nvPr/>
          </p:nvSpPr>
          <p:spPr>
            <a:xfrm flipH="false" flipV="false" rot="0">
              <a:off x="0" y="0"/>
              <a:ext cx="20659342" cy="2999232"/>
            </a:xfrm>
            <a:custGeom>
              <a:avLst/>
              <a:gdLst/>
              <a:ahLst/>
              <a:cxnLst/>
              <a:rect r="r" b="b" t="t" l="l"/>
              <a:pathLst>
                <a:path h="2999232" w="20659342">
                  <a:moveTo>
                    <a:pt x="0" y="0"/>
                  </a:moveTo>
                  <a:lnTo>
                    <a:pt x="20659342" y="0"/>
                  </a:lnTo>
                  <a:lnTo>
                    <a:pt x="20659342" y="2999232"/>
                  </a:lnTo>
                  <a:lnTo>
                    <a:pt x="0" y="2999232"/>
                  </a:lnTo>
                  <a:close/>
                </a:path>
              </a:pathLst>
            </a:custGeom>
            <a:blipFill>
              <a:blip r:embed="rId2">
                <a:alphaModFix amt="0"/>
              </a:blip>
              <a:stretch>
                <a:fillRect l="0" t="-84217" r="0" b="-84217"/>
              </a:stretch>
            </a:blipFill>
          </p:spPr>
        </p:sp>
        <p:sp>
          <p:nvSpPr>
            <p:cNvPr name="TextBox 9" id="9"/>
            <p:cNvSpPr txBox="true"/>
            <p:nvPr/>
          </p:nvSpPr>
          <p:spPr>
            <a:xfrm>
              <a:off x="0" y="152400"/>
              <a:ext cx="20659344" cy="284683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Thank You</a:t>
              </a:r>
            </a:p>
          </p:txBody>
        </p:sp>
      </p:grpSp>
      <p:sp>
        <p:nvSpPr>
          <p:cNvPr name="AutoShape 10" id="10"/>
          <p:cNvSpPr/>
          <p:nvPr/>
        </p:nvSpPr>
        <p:spPr>
          <a:xfrm rot="-5329860">
            <a:off x="442770" y="1915763"/>
            <a:ext cx="1400470" cy="0"/>
          </a:xfrm>
          <a:prstGeom prst="line">
            <a:avLst/>
          </a:prstGeom>
          <a:ln cap="rnd" w="19050">
            <a:solidFill>
              <a:srgbClr val="1CADE4"/>
            </a:solidFill>
            <a:prstDash val="solid"/>
            <a:headEnd type="none" len="sm" w="sm"/>
            <a:tailEnd type="none" len="sm" w="sm"/>
          </a:ln>
        </p:spPr>
      </p:sp>
      <p:sp>
        <p:nvSpPr>
          <p:cNvPr name="TextBox 11" id="11"/>
          <p:cNvSpPr txBox="true"/>
          <p:nvPr/>
        </p:nvSpPr>
        <p:spPr>
          <a:xfrm rot="0">
            <a:off x="1581912" y="3484245"/>
            <a:ext cx="15403068" cy="2806827"/>
          </a:xfrm>
          <a:prstGeom prst="rect">
            <a:avLst/>
          </a:prstGeom>
        </p:spPr>
        <p:txBody>
          <a:bodyPr anchor="t" rtlCol="false" tIns="0" lIns="0" bIns="0" rIns="0">
            <a:spAutoFit/>
          </a:bodyPr>
          <a:lstStyle/>
          <a:p>
            <a:pPr algn="l">
              <a:lnSpc>
                <a:spcPts val="2916"/>
              </a:lnSpc>
            </a:pPr>
          </a:p>
          <a:p>
            <a:pPr algn="l">
              <a:lnSpc>
                <a:spcPts val="4751"/>
              </a:lnSpc>
            </a:pPr>
            <a:r>
              <a:rPr lang="en-US" sz="4399">
                <a:solidFill>
                  <a:srgbClr val="FFFFFF"/>
                </a:solidFill>
                <a:latin typeface="Shrikhand"/>
                <a:ea typeface="Shrikhand"/>
                <a:cs typeface="Shrikhand"/>
                <a:sym typeface="Shrikhand"/>
              </a:rPr>
              <a:t>“In conclusion, this project demonstrates how automation can simplify event registration and participant management, improving efficiency, accuracy, and overall user experience.”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DAHGWwHFqcg</dc:identifier>
  <dcterms:modified xsi:type="dcterms:W3CDTF">2011-08-01T06:04:30Z</dcterms:modified>
  <cp:revision>1</cp:revision>
  <dc:title>Project Title: Event Registration And Participant Management System Course: Java Programming Mini Project Student Name &amp; Roll No: [Enter details] Department: Computer Science / IT Mentor / Guide: [Name &amp; Designation]</dc:title>
</cp:coreProperties>
</file>